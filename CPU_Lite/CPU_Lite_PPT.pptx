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59" r:id="rId6"/>
    <p:sldId id="258" r:id="rId7"/>
    <p:sldId id="263" r:id="rId8"/>
    <p:sldId id="264" r:id="rId9"/>
    <p:sldId id="260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1602-EAA8-4F1C-9FF7-6AF9819ED24A}" type="datetimeFigureOut">
              <a:rPr lang="en-DE" smtClean="0"/>
              <a:t>15/10/2026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0FEC7-23AA-4FE2-9886-697A4B73E9C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256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F9E9-299F-BB6A-80DE-757B5D5E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F130C-B691-41BC-2FDB-972D01E91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FC827-7BE3-EE83-3095-D752BBFB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1571-DD67-4DB9-828E-8224F49D10F7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6AB1-F835-5DA5-F78C-25C5CBA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84102-73E2-EC46-0CD3-7714CDC83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472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EEEF-038D-060D-822D-65B0A2C1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55D28-D7E5-77A6-D71F-738501E8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8B10C-AE46-6020-78E5-4AC84D4A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62AD5-4B24-4ABD-947C-0B79DD411B70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B9B9B-0B4A-5EAB-8170-5C3F1C96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09B89-0FFF-CA09-F3B5-95647F27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3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C758-DE3C-D987-E3C0-DDA246FB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FF786-2361-34E4-1936-0795876C7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9F643-F401-4292-DFE4-2A47626A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0E591-0DD3-4063-9353-B7994991AA26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32299-5827-3C39-94B1-B8971C3C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1D616-B52A-2EA0-81EF-1BFF7041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3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68D5-C2BE-51DD-E645-8CEE22BF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43FD-FE2F-A7EC-C42C-53967ECC7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D64E9-0555-30B0-F9B8-7E2B4F34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8A2DC-5766-3CB8-5F46-A4C96F98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A21E-E696-4D3A-AC14-818B200362B9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E1FFF-D983-AF64-3C0F-A5714904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A528F-A6CD-704C-0984-A4E7A1C8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601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74F7-B2AE-D0F1-8388-01B7D973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AA8B6-ACC5-7D39-EB5C-2C441CBC7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7312EB-A19B-A414-5005-D73DBD82C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C503F-37E0-F305-D9C0-30DDD29AE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D99A5-5124-1AE5-F632-C0749BF3A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42CEC-B194-1B41-2559-7A77E4FB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0BFA8-8A0B-429B-8866-F0F19839FE2A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93790-F17A-29DF-E9AF-F7A1D45D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B6560-F523-260D-1390-03814FC9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133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E38E-7D43-1CD9-353F-EC65FBE0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2299A-37C4-F803-D61E-319EBD59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E2B78-6173-44EE-AA8A-9FDFCD4A202E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5FDF2-EBBA-955F-4CB7-D05970DE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AA6D9-4D7D-9168-73A4-A4CCA28F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492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9B891-1BBA-9919-340B-B24D333E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C95DE-1BBF-4297-B01A-9D1D0DAB67F7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A2913D-5898-6BCC-C0F9-7DDAF741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C6842-72C0-E92B-A921-C54FA81C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475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D925-B493-0808-F68C-C63FEC89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0647-7656-BE9D-3EBB-8609758A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CE847-3785-885F-4DB0-B580DC0CE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913D5-F2B7-74E4-B664-B95365A3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AB5A-3AF1-455B-B52A-7F093A6F8B11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5973F-B7CC-66F9-B21F-DF61D998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D312F-F144-58BF-CF94-506FD2D2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819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FE54-CB59-5780-3AEA-3F1AEB58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F5956-3780-53A5-8C34-A381EB0B640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B6C3C-4FD0-F8E5-3808-81029DA43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801EF-EA41-0E7B-57CE-953DDED0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D3544-4A9A-4482-8049-1F4A5A0FB2CC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26337-EBB7-1A36-90E9-88208383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B53A2-4A6C-B63E-B374-CE36F43F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831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AA20-413A-15AC-94EA-62CE81F6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7E59B-275E-971B-7CA6-D24856D03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AD0EE-6DAC-C4E1-A46B-B58D8972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D51F6-4284-4068-A837-7C1D9F8E0C33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EB025-06E5-BAA8-91F7-BB594036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B7DC-5449-4D0F-D773-EAABC482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4207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BC15D-8B63-A75F-00BF-54EBFBBB3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11683-02A2-BF72-1BE7-96B926BDD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22F4-910D-D18B-3DA0-A6285012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5440-5D12-45B5-9174-2FE7550F8EDC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2EAB6-913C-2FB3-DBDD-15CF6F31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97BD2-D04D-245D-C9BD-B76DE536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27707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BC6BC-ED95-9732-32CA-E457F9994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257EC-E7CC-7D44-B11A-12BE7495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5A793-2D3A-F9E4-0D94-F2EEEB51F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FB065-BC28-4C5F-8855-6FB69D25D066}" type="datetime8">
              <a:rPr lang="en-DE" smtClean="0"/>
              <a:t>15/10/2026 03:43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3CC66-9C9A-F6D3-6FA8-B45CF38F5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661B-0E0A-7D8A-5007-E34F95645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6123B-3F7F-43EF-AAC7-F8A0831EFA9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330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021B-D538-4382-596A-D225FEA669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CPU Lite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55195-68EA-D21F-B2B5-2020E14AB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b="1" dirty="0">
                <a:latin typeface="XB Niloofar" panose="02000503080000020003" pitchFamily="2" charset="-78"/>
                <a:cs typeface="XB Niloofar" panose="02000503080000020003" pitchFamily="2" charset="-78"/>
              </a:rPr>
              <a:t>5-Stage Pipelined RISC Core with Write-Back Cache</a:t>
            </a:r>
          </a:p>
        </p:txBody>
      </p:sp>
    </p:spTree>
    <p:extLst>
      <p:ext uri="{BB962C8B-B14F-4D97-AF65-F5344CB8AC3E}">
        <p14:creationId xmlns:p14="http://schemas.microsoft.com/office/powerpoint/2010/main" val="362629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5473-5CE9-DF45-9D0F-6F6C6ADE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Overview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106F7522-4F91-84E7-94E4-1C1AFCE64D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6300725"/>
                  </p:ext>
                </p:extLst>
              </p:nvPr>
            </p:nvGraphicFramePr>
            <p:xfrm>
              <a:off x="9103503" y="3269533"/>
              <a:ext cx="716006" cy="402754"/>
            </p:xfrm>
            <a:graphic>
              <a:graphicData uri="http://schemas.microsoft.com/office/powerpoint/2016/slidezoom">
                <pslz:sldZm>
                  <pslz:sldZmObj sldId="258" cId="15702998">
                    <pslz:zmPr id="{719C769D-3CF8-4A89-894E-018796295D55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16006" cy="4027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06F7522-4F91-84E7-94E4-1C1AFCE64D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03503" y="3269533"/>
                <a:ext cx="716006" cy="4027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8F509AD-F017-C23E-94D9-CA3B0FF3DF89}"/>
              </a:ext>
            </a:extLst>
          </p:cNvPr>
          <p:cNvSpPr txBox="1"/>
          <p:nvPr/>
        </p:nvSpPr>
        <p:spPr>
          <a:xfrm>
            <a:off x="9185629" y="2880360"/>
            <a:ext cx="5517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mem</a:t>
            </a:r>
            <a:endParaRPr lang="en-DE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077A69-60A9-78A9-BC68-E659F10C4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660489" y="1858639"/>
            <a:ext cx="7099505" cy="3627296"/>
          </a:xfrm>
          <a:prstGeom prst="rect">
            <a:avLst/>
          </a:prstGeom>
        </p:spPr>
      </p:pic>
      <p:pic>
        <p:nvPicPr>
          <p:cNvPr id="3" name="Picture 2" descr="Leading Engineering &amp; Technology Services | Mirafra">
            <a:extLst>
              <a:ext uri="{FF2B5EF4-FFF2-40B4-BE49-F238E27FC236}">
                <a16:creationId xmlns:a16="http://schemas.microsoft.com/office/drawing/2014/main" id="{A6330863-EDA7-B27F-B836-8E5C4AB0A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406" y="365125"/>
            <a:ext cx="1182788" cy="3932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A6B96E-5236-1063-243F-06E86708F0B4}"/>
              </a:ext>
            </a:extLst>
          </p:cNvPr>
          <p:cNvSpPr txBox="1"/>
          <p:nvPr/>
        </p:nvSpPr>
        <p:spPr>
          <a:xfrm>
            <a:off x="730504" y="2103224"/>
            <a:ext cx="35268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A </a:t>
            </a:r>
            <a:r>
              <a:rPr lang="en-DE" b="1" dirty="0">
                <a:latin typeface="XB Niloofar" panose="02000503080000020003" pitchFamily="2" charset="-78"/>
                <a:cs typeface="XB Niloofar" panose="02000503080000020003" pitchFamily="2" charset="-78"/>
              </a:rPr>
              <a:t>32-bit </a:t>
            </a: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single-issue RISC CPU with a cached memory system spanning two asynchronous clock domains, designed in synthesizable Verilog.</a:t>
            </a:r>
            <a:endParaRPr lang="en-US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pPr rtl="0">
              <a:buNone/>
            </a:pPr>
            <a:endParaRPr lang="en-US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pPr rtl="0">
              <a:buNone/>
            </a:pPr>
            <a:r>
              <a:rPr lang="en-DE" b="1" dirty="0">
                <a:latin typeface="XB Niloofar" panose="02000503080000020003" pitchFamily="2" charset="-78"/>
                <a:cs typeface="XB Niloofar" panose="02000503080000020003" pitchFamily="2" charset="-78"/>
              </a:rPr>
              <a:t>Objective</a:t>
            </a:r>
            <a:endParaRPr lang="en-DE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Design a RISC CPU that fetches from program memory and accesses data memory only through an L1 cache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Safely connect a fast CPU domain to a slow memory domain</a:t>
            </a:r>
          </a:p>
          <a:p>
            <a:endParaRPr lang="en-DE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974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28D7-0419-E4A6-2325-D421F46A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FBF94B5-8371-05BE-0B89-4544AD7FA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Key Specification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75C85E1A-90FD-4198-4A10-C5520838C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114161"/>
              </p:ext>
            </p:extLst>
          </p:nvPr>
        </p:nvGraphicFramePr>
        <p:xfrm>
          <a:off x="838200" y="1926662"/>
          <a:ext cx="10515600" cy="393192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609284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06530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Detail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12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Datapath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32-bit, 16 registers (R0–R15), 12-bit PC, 4-bit PSR (Z, N, C, 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5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Fixed 32-bit instructions, about 38 instructions (ALU, load/store, branches, shifts)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95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Fast domain (150 MHz)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CPU core, L1 data cache, program memory (4K × 32)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9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Slow domain (70 MHz)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Data memory (16K × 32)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14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Direct-mapped, write-back with dirty bit, write-allocate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63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CDC bridge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Async FIFOs, Gray-coded pointers, 2-flop synchronizers (the only domain crossing)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3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48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8DA5ED-3D91-FB6C-E7B1-57B461FC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Micro Architecture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B27E6-1B67-68BA-E042-9031F227B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059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F96B-7B1F-6643-79AA-F822083C2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AE9E310-F525-44D3-DDBB-4AC4E6CFF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30"/>
          <a:stretch>
            <a:fillRect/>
          </a:stretch>
        </p:blipFill>
        <p:spPr>
          <a:xfrm>
            <a:off x="-1" y="1258529"/>
            <a:ext cx="12196438" cy="4667966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835BCD6D-4869-12D2-A067-3AB3A87FC26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80505474"/>
                  </p:ext>
                </p:extLst>
              </p:nvPr>
            </p:nvGraphicFramePr>
            <p:xfrm>
              <a:off x="9057783" y="3134953"/>
              <a:ext cx="716006" cy="402754"/>
            </p:xfrm>
            <a:graphic>
              <a:graphicData uri="http://schemas.microsoft.com/office/powerpoint/2016/slidezoom">
                <pslz:sldZm>
                  <pslz:sldZmObj sldId="258" cId="15702998">
                    <pslz:zmPr id="{719C769D-3CF8-4A89-894E-018796295D55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16006" cy="4027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835BCD6D-4869-12D2-A067-3AB3A87FC2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57783" y="3134953"/>
                <a:ext cx="716006" cy="4027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64E9FBA-8E31-72B8-869A-13FB072B5D16}"/>
              </a:ext>
            </a:extLst>
          </p:cNvPr>
          <p:cNvSpPr txBox="1"/>
          <p:nvPr/>
        </p:nvSpPr>
        <p:spPr>
          <a:xfrm>
            <a:off x="9139909" y="2934898"/>
            <a:ext cx="5517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mem</a:t>
            </a:r>
            <a:endParaRPr lang="en-DE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Leading Engineering &amp; Technology Services | Mirafra">
            <a:extLst>
              <a:ext uri="{FF2B5EF4-FFF2-40B4-BE49-F238E27FC236}">
                <a16:creationId xmlns:a16="http://schemas.microsoft.com/office/drawing/2014/main" id="{70A12A80-A02B-16FD-4116-9CEE21251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2406" y="365125"/>
            <a:ext cx="1182788" cy="3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6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6A528-5305-9DD9-2C03-273C6C3C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3E8E-9AA8-D893-CFAF-5E117EF4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E4D718-5802-93FC-A821-1691B7FBF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8315"/>
            <a:ext cx="10515600" cy="4345957"/>
          </a:xfrm>
          <a:prstGeom prst="rect">
            <a:avLst/>
          </a:prstGeom>
        </p:spPr>
      </p:pic>
      <p:pic>
        <p:nvPicPr>
          <p:cNvPr id="5" name="Picture 4" descr="Leading Engineering &amp; Technology Services | Mirafra">
            <a:extLst>
              <a:ext uri="{FF2B5EF4-FFF2-40B4-BE49-F238E27FC236}">
                <a16:creationId xmlns:a16="http://schemas.microsoft.com/office/drawing/2014/main" id="{291C18B3-A5E9-7F40-9B92-D48674933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06" y="365125"/>
            <a:ext cx="1182788" cy="3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5E794-B558-FE10-F2C9-2DADC80F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4A7BB6EF-1C7E-27B9-7D07-6B48A6C9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L1 Cache Parameters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1B1FB130-5E05-F326-8105-B74B2FFB3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2129980"/>
              </p:ext>
            </p:extLst>
          </p:nvPr>
        </p:nvGraphicFramePr>
        <p:xfrm>
          <a:off x="838200" y="2148840"/>
          <a:ext cx="10515600" cy="256032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609284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06530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126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Direct-mapped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5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Line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4 words (128 bits)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958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Number of 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64 (parameterized)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89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256 words (1 KB)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414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14-bit word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63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Write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Write-back, write-allocate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13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16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BF12C-F6EA-E818-050D-2EA74144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Cache Behavior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81B535-0342-F2D3-CEB0-E08135018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566358"/>
              </p:ext>
            </p:extLst>
          </p:nvPr>
        </p:nvGraphicFramePr>
        <p:xfrm>
          <a:off x="838200" y="2286000"/>
          <a:ext cx="10515600" cy="22860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372750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429716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5833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Hit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b="1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Miss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2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Return word in 1 cycle, no memory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Fill line from memory, then return the 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273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Update word, set dirty, no memory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Fill line (write-allocate), apply write, set dirty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219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Miss on dirty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latin typeface="XB Niloofar" panose="02000503080000020003" pitchFamily="2" charset="-78"/>
                          <a:cs typeface="XB Niloofar" panose="02000503080000020003" pitchFamily="2" charset="-78"/>
                        </a:rPr>
                        <a:t>Write back the old line first, then fill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2896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A3623D-E98F-F90A-4178-09ECFCFCADA1}"/>
              </a:ext>
            </a:extLst>
          </p:cNvPr>
          <p:cNvSpPr txBox="1"/>
          <p:nvPr/>
        </p:nvSpPr>
        <p:spPr>
          <a:xfrm>
            <a:off x="838200" y="4946925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Address Split:</a:t>
            </a:r>
          </a:p>
          <a:p>
            <a:endParaRPr lang="en-US" sz="800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| </a:t>
            </a:r>
            <a:r>
              <a:rPr lang="en-DE" b="1" dirty="0">
                <a:latin typeface="XB Niloofar" panose="02000503080000020003" pitchFamily="2" charset="-78"/>
                <a:cs typeface="XB Niloofar" panose="02000503080000020003" pitchFamily="2" charset="-78"/>
              </a:rPr>
              <a:t>Tag [13:8] | Index [7:2] | Offset [1:0] </a:t>
            </a: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|</a:t>
            </a:r>
            <a:endParaRPr lang="en-US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r>
              <a:rPr lang="en-US" dirty="0">
                <a:latin typeface="XB Niloofar" panose="02000503080000020003" pitchFamily="2" charset="-78"/>
                <a:cs typeface="XB Niloofar" panose="02000503080000020003" pitchFamily="2" charset="-78"/>
              </a:rPr>
              <a:t>-----------------------------------</a:t>
            </a: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 </a:t>
            </a:r>
            <a:endParaRPr lang="en-US" dirty="0">
              <a:latin typeface="XB Niloofar" panose="02000503080000020003" pitchFamily="2" charset="-78"/>
              <a:cs typeface="XB Niloofar" panose="02000503080000020003" pitchFamily="2" charset="-78"/>
            </a:endParaRPr>
          </a:p>
          <a:p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| 6 bits </a:t>
            </a:r>
            <a:r>
              <a:rPr lang="en-US" dirty="0">
                <a:latin typeface="XB Niloofar" panose="02000503080000020003" pitchFamily="2" charset="-78"/>
                <a:cs typeface="XB Niloofar" panose="02000503080000020003" pitchFamily="2" charset="-78"/>
              </a:rPr>
              <a:t>          |</a:t>
            </a: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 6 bits </a:t>
            </a:r>
            <a:r>
              <a:rPr lang="en-US" dirty="0">
                <a:latin typeface="XB Niloofar" panose="02000503080000020003" pitchFamily="2" charset="-78"/>
                <a:cs typeface="XB Niloofar" panose="02000503080000020003" pitchFamily="2" charset="-78"/>
              </a:rPr>
              <a:t>            | </a:t>
            </a:r>
            <a:r>
              <a:rPr lang="en-DE" dirty="0">
                <a:latin typeface="XB Niloofar" panose="02000503080000020003" pitchFamily="2" charset="-78"/>
                <a:cs typeface="XB Niloofar" panose="02000503080000020003" pitchFamily="2" charset="-78"/>
              </a:rPr>
              <a:t> 2 bits </a:t>
            </a:r>
            <a:r>
              <a:rPr lang="en-US" dirty="0">
                <a:latin typeface="XB Niloofar" panose="02000503080000020003" pitchFamily="2" charset="-78"/>
                <a:cs typeface="XB Niloofar" panose="02000503080000020003" pitchFamily="2" charset="-78"/>
              </a:rPr>
              <a:t>           |</a:t>
            </a:r>
            <a:endParaRPr lang="en-DE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390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4980F-2A4F-326F-10E9-07891230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C37F4-FAAD-6E66-347D-A1FDBF83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F11C02-74E8-9C56-0AC9-A35AE4895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16682"/>
            <a:ext cx="3396599" cy="6624633"/>
          </a:xfrm>
          <a:prstGeom prst="rect">
            <a:avLst/>
          </a:prstGeom>
        </p:spPr>
      </p:pic>
      <p:pic>
        <p:nvPicPr>
          <p:cNvPr id="5" name="Picture 4" descr="Leading Engineering &amp; Technology Services | Mirafra">
            <a:extLst>
              <a:ext uri="{FF2B5EF4-FFF2-40B4-BE49-F238E27FC236}">
                <a16:creationId xmlns:a16="http://schemas.microsoft.com/office/drawing/2014/main" id="{DBCE317A-4411-A09B-E8AF-8D64DBFA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06" y="365125"/>
            <a:ext cx="1182788" cy="393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F568F-14BF-94A2-C4B9-7324C1DC9123}"/>
              </a:ext>
            </a:extLst>
          </p:cNvPr>
          <p:cNvSpPr txBox="1"/>
          <p:nvPr/>
        </p:nvSpPr>
        <p:spPr>
          <a:xfrm>
            <a:off x="1108260" y="3428998"/>
            <a:ext cx="318228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XB Niloofar" panose="02000503080000020003" pitchFamily="2" charset="-78"/>
                <a:cs typeface="XB Niloofar" panose="02000503080000020003" pitchFamily="2" charset="-78"/>
              </a:rPr>
              <a:t>L1 Cache </a:t>
            </a:r>
          </a:p>
          <a:p>
            <a:pPr algn="ctr"/>
            <a:r>
              <a:rPr lang="en-US" sz="3200" b="1" dirty="0">
                <a:latin typeface="XB Niloofar" panose="02000503080000020003" pitchFamily="2" charset="-78"/>
                <a:cs typeface="XB Niloofar" panose="02000503080000020003" pitchFamily="2" charset="-78"/>
              </a:rPr>
              <a:t>Controller FSM</a:t>
            </a:r>
            <a:endParaRPr lang="en-DE" sz="3200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34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ECA-1AD5-E995-DD7F-B4BC54AF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Forwarding Unit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8D90D-3223-0DEF-CACA-8F9A24824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466" y="2313317"/>
            <a:ext cx="9541067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6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83F8-A45C-661E-BBDA-F51FAE84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Lint results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58747-CFA7-E112-C176-EE520E9F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32186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FED44-31A0-CAB4-5A26-BABA1DD6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5049-9AE5-0CEE-2FFF-E5C9DDAC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CDC results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FA2D4-0CCD-5D46-AA3A-3E285463F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84382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9A523-DDFB-7E64-7A96-3719B9B4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AEC0-5D52-3E45-D19D-4848FAF6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Synthesis results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A543-4335-4890-21B8-D57438E9A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9340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0F37-85A0-A8E4-183F-C34DE7F1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0B336-057B-7514-F422-70F09A3C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XB Niloofar" panose="02000503080000020003" pitchFamily="2" charset="-78"/>
                <a:cs typeface="XB Niloofar" panose="02000503080000020003" pitchFamily="2" charset="-78"/>
              </a:rPr>
              <a:t>STA results</a:t>
            </a:r>
            <a:endParaRPr lang="en-DE" b="1" dirty="0">
              <a:latin typeface="XB Niloofar" panose="02000503080000020003" pitchFamily="2" charset="-78"/>
              <a:cs typeface="XB Niloofar" panose="02000503080000020003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BC45-A276-90E8-C13A-36F1FB32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920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314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XB Niloofar</vt:lpstr>
      <vt:lpstr>Office Theme</vt:lpstr>
      <vt:lpstr>CPU Lite</vt:lpstr>
      <vt:lpstr>Overview</vt:lpstr>
      <vt:lpstr>Key Specification</vt:lpstr>
      <vt:lpstr>Micro Architecture</vt:lpstr>
      <vt:lpstr>PowerPoint Presentation</vt:lpstr>
      <vt:lpstr>PowerPoint Presentation</vt:lpstr>
      <vt:lpstr>L1 Cache Parameters</vt:lpstr>
      <vt:lpstr>Cache Behavior</vt:lpstr>
      <vt:lpstr>PowerPoint Presentation</vt:lpstr>
      <vt:lpstr>Forwarding Unit</vt:lpstr>
      <vt:lpstr>Lint results</vt:lpstr>
      <vt:lpstr>CDC results</vt:lpstr>
      <vt:lpstr>Synthesis results</vt:lpstr>
      <vt:lpstr>STA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Abiramasundar S</dc:creator>
  <cp:lastModifiedBy>Abiramasundar S</cp:lastModifiedBy>
  <cp:revision>11</cp:revision>
  <dcterms:created xsi:type="dcterms:W3CDTF">2026-10-09T11:50:40Z</dcterms:created>
  <dcterms:modified xsi:type="dcterms:W3CDTF">2026-10-14T22:48:03Z</dcterms:modified>
</cp:coreProperties>
</file>