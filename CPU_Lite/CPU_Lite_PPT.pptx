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61" r:id="rId4"/>
    <p:sldId id="262" r:id="rId5"/>
    <p:sldId id="259" r:id="rId6"/>
    <p:sldId id="258" r:id="rId7"/>
    <p:sldId id="263" r:id="rId8"/>
    <p:sldId id="264" r:id="rId9"/>
    <p:sldId id="260" r:id="rId10"/>
    <p:sldId id="265" r:id="rId11"/>
    <p:sldId id="266" r:id="rId12"/>
    <p:sldId id="267" r:id="rId13"/>
    <p:sldId id="268" r:id="rId14"/>
    <p:sldId id="270" r:id="rId15"/>
    <p:sldId id="271" r:id="rId16"/>
    <p:sldId id="272" r:id="rId17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121602-EAA8-4F1C-9FF7-6AF9819ED24A}" type="datetimeFigureOut">
              <a:rPr lang="en-DE" smtClean="0"/>
              <a:t>16/10/2026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E0FEC7-23AA-4FE2-9886-697A4B73E9C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3825621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CF9E9-299F-BB6A-80DE-757B5D5EFB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4F130C-B691-41BC-2FDB-972D01E913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EFC827-7BE3-EE83-3095-D752BBFB9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61571-DD67-4DB9-828E-8224F49D10F7}" type="datetime8">
              <a:rPr lang="en-DE" smtClean="0"/>
              <a:t>16/10/2026 10:16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F46AB1-F835-5DA5-F78C-25C5CBA7D4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084102-73E2-EC46-0CD3-7714CDC83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6123B-3F7F-43EF-AAC7-F8A0831EFA9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847207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0EEEF-038D-060D-822D-65B0A2C19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F55D28-D7E5-77A6-D71F-738501E857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08B10C-AE46-6020-78E5-4AC84D4A2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62AD5-4B24-4ABD-947C-0B79DD411B70}" type="datetime8">
              <a:rPr lang="en-DE" smtClean="0"/>
              <a:t>16/10/2026 10:16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BB9B9B-0B4A-5EAB-8170-5C3F1C96B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209B89-0FFF-CA09-F3B5-95647F277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6123B-3F7F-43EF-AAC7-F8A0831EFA9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513631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1C758-DE3C-D987-E3C0-DDA246FBF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AFF786-2361-34E4-1936-0795876C71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09F643-F401-4292-DFE4-2A47626AD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00E591-0DD3-4063-9353-B7994991AA26}" type="datetime8">
              <a:rPr lang="en-DE" smtClean="0"/>
              <a:t>16/10/2026 10:16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E32299-5827-3C39-94B1-B8971C3C9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41D616-B52A-2EA0-81EF-1BFF70412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6123B-3F7F-43EF-AAC7-F8A0831EFA9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1350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A68D5-C2BE-51DD-E645-8CEE22BF5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DF43FD-FE2F-A7EC-C42C-53967ECC7F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7D64E9-0555-30B0-F9B8-7E2B4F3445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08A2DC-5766-3CB8-5F46-A4C96F98F8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1A21E-E696-4D3A-AC14-818B200362B9}" type="datetime8">
              <a:rPr lang="en-DE" smtClean="0"/>
              <a:t>16/10/2026 10:16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4E1FFF-D983-AF64-3C0F-A5714904D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AA528F-A6CD-704C-0984-A4E7A1C8F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6123B-3F7F-43EF-AAC7-F8A0831EFA9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860163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74F7-B2AE-D0F1-8388-01B7D973A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BAA8B6-ACC5-7D39-EB5C-2C441CBC7F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7312EB-A19B-A414-5005-D73DBD82C4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8C503F-37E0-F305-D9C0-30DDD29AE1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6D99A5-5124-1AE5-F632-C0749BF3A0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2E42CEC-B194-1B41-2559-7A77E4FB8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0BFA8-8A0B-429B-8866-F0F19839FE2A}" type="datetime8">
              <a:rPr lang="en-DE" smtClean="0"/>
              <a:t>16/10/2026 10:16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F893790-F17A-29DF-E9AF-F7A1D45D5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4B6560-F523-260D-1390-03814FC90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6123B-3F7F-43EF-AAC7-F8A0831EFA9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013385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FE38E-7D43-1CD9-353F-EC65FBE07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92299A-37C4-F803-D61E-319EBD598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BE2B78-6173-44EE-AA8A-9FDFCD4A202E}" type="datetime8">
              <a:rPr lang="en-DE" smtClean="0"/>
              <a:t>16/10/2026 10:16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75FDF2-EBBA-955F-4CB7-D05970DE8D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6AA6D9-4D7D-9168-73A4-A4CCA28F6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6123B-3F7F-43EF-AAC7-F8A0831EFA9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249208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E39B891-1BBA-9919-340B-B24D333EAA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AC95DE-1BBF-4297-B01A-9D1D0DAB67F7}" type="datetime8">
              <a:rPr lang="en-DE" smtClean="0"/>
              <a:t>16/10/2026 10:16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A2913D-5898-6BCC-C0F9-7DDAF74104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2C6842-72C0-E92B-A921-C54FA81C4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6123B-3F7F-43EF-AAC7-F8A0831EFA9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04759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FD925-B493-0808-F68C-C63FEC891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4E0647-7656-BE9D-3EBB-8609758A9D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3CE847-3785-885F-4DB0-B580DC0CED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E913D5-F2B7-74E4-B664-B95365A33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DAB5A-3AF1-455B-B52A-7F093A6F8B11}" type="datetime8">
              <a:rPr lang="en-DE" smtClean="0"/>
              <a:t>16/10/2026 10:16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25973F-B7CC-66F9-B21F-DF61D998A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4D312F-F144-58BF-CF94-506FD2D24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6123B-3F7F-43EF-AAC7-F8A0831EFA9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281924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EFE54-CB59-5780-3AEA-3F1AEB581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0F5956-3780-53A5-8C34-A381EB0B640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CB6C3C-4FD0-F8E5-3808-81029DA439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4801EF-EA41-0E7B-57CE-953DDED0B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ED3544-4A9A-4482-8049-1F4A5A0FB2CC}" type="datetime8">
              <a:rPr lang="en-DE" smtClean="0"/>
              <a:t>16/10/2026 10:16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126337-EBB7-1A36-90E9-882083833E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6B53A2-4A6C-B63E-B374-CE36F43FE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6123B-3F7F-43EF-AAC7-F8A0831EFA9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283116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0AA20-413A-15AC-94EA-62CE81F6C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97E59B-275E-971B-7CA6-D24856D03A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EAD0EE-6DAC-C4E1-A46B-B58D89724D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D51F6-4284-4068-A837-7C1D9F8E0C33}" type="datetime8">
              <a:rPr lang="en-DE" smtClean="0"/>
              <a:t>16/10/2026 10:16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CEB025-06E5-BAA8-91F7-BB594036F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24B7DC-5449-4D0F-D773-EAABC4828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6123B-3F7F-43EF-AAC7-F8A0831EFA9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642079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4BC15D-8B63-A75F-00BF-54EBFBBB38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611683-02A2-BF72-1BE7-96B926BDDA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4F22F4-910D-D18B-3DA0-A6285012D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440-5D12-45B5-9174-2FE7550F8EDC}" type="datetime8">
              <a:rPr lang="en-DE" smtClean="0"/>
              <a:t>16/10/2026 10:16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C2EAB6-913C-2FB3-DBDD-15CF6F3164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D97BD2-D04D-245D-C9BD-B76DE5363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6123B-3F7F-43EF-AAC7-F8A0831EFA9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27707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7BC6BC-ED95-9732-32CA-E457F9994C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C257EC-E7CC-7D44-B11A-12BE749575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5A793-2D3A-F9E4-0D94-F2EEEB51FB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BFB065-BC28-4C5F-8855-6FB69D25D066}" type="datetime8">
              <a:rPr lang="en-DE" smtClean="0"/>
              <a:t>16/10/2026 10:16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C3CC66-9C9A-F6D3-6FA8-B45CF38F5A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ED661B-0E0A-7D8A-5007-E34F95645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36123B-3F7F-43EF-AAC7-F8A0831EFA9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93300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slide" Target="slide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10.png"/><Relationship Id="rId4" Type="http://schemas.openxmlformats.org/officeDocument/2006/relationships/slide" Target="slide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4021B-D538-4382-596A-D225FEA669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latin typeface="XB Niloofar" panose="02000503080000020003" pitchFamily="2" charset="-78"/>
                <a:cs typeface="XB Niloofar" panose="02000503080000020003" pitchFamily="2" charset="-78"/>
              </a:rPr>
              <a:t>CPU Lite</a:t>
            </a:r>
            <a:endParaRPr lang="en-DE" b="1" dirty="0">
              <a:latin typeface="XB Niloofar" panose="02000503080000020003" pitchFamily="2" charset="-78"/>
              <a:cs typeface="XB Niloofar" panose="02000503080000020003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455195-68EA-D21F-B2B5-2020E14ABDD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DE" b="1" dirty="0">
                <a:latin typeface="XB Niloofar" panose="02000503080000020003" pitchFamily="2" charset="-78"/>
                <a:cs typeface="XB Niloofar" panose="02000503080000020003" pitchFamily="2" charset="-78"/>
              </a:rPr>
              <a:t>5-Stage Pipelined RISC Core with Write-Back Cache</a:t>
            </a:r>
          </a:p>
        </p:txBody>
      </p:sp>
    </p:spTree>
    <p:extLst>
      <p:ext uri="{BB962C8B-B14F-4D97-AF65-F5344CB8AC3E}">
        <p14:creationId xmlns:p14="http://schemas.microsoft.com/office/powerpoint/2010/main" val="3626298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B5473-5CE9-DF45-9D0F-6F6C6ADEA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XB Niloofar" panose="02000503080000020003" pitchFamily="2" charset="-78"/>
                <a:cs typeface="XB Niloofar" panose="02000503080000020003" pitchFamily="2" charset="-78"/>
              </a:rPr>
              <a:t>Overview</a:t>
            </a:r>
            <a:endParaRPr lang="en-DE" b="1" dirty="0">
              <a:latin typeface="XB Niloofar" panose="02000503080000020003" pitchFamily="2" charset="-78"/>
              <a:cs typeface="XB Niloofar" panose="02000503080000020003" pitchFamily="2" charset="-78"/>
            </a:endParaRP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1" name="Slide Zoom 10">
                <a:extLst>
                  <a:ext uri="{FF2B5EF4-FFF2-40B4-BE49-F238E27FC236}">
                    <a16:creationId xmlns:a16="http://schemas.microsoft.com/office/drawing/2014/main" id="{106F7522-4F91-84E7-94E4-1C1AFCE64DD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66300725"/>
                  </p:ext>
                </p:extLst>
              </p:nvPr>
            </p:nvGraphicFramePr>
            <p:xfrm>
              <a:off x="9103503" y="3269533"/>
              <a:ext cx="716006" cy="402754"/>
            </p:xfrm>
            <a:graphic>
              <a:graphicData uri="http://schemas.microsoft.com/office/powerpoint/2016/slidezoom">
                <pslz:sldZm>
                  <pslz:sldZmObj sldId="258" cId="15702998">
                    <pslz:zmPr id="{719C769D-3CF8-4A89-894E-018796295D55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716006" cy="402754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1" name="Slide Zoom 10">
                <a:hlinkClick r:id="rId4" action="ppaction://hlinksldjump"/>
                <a:extLst>
                  <a:ext uri="{FF2B5EF4-FFF2-40B4-BE49-F238E27FC236}">
                    <a16:creationId xmlns:a16="http://schemas.microsoft.com/office/drawing/2014/main" id="{106F7522-4F91-84E7-94E4-1C1AFCE64DD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103503" y="3269533"/>
                <a:ext cx="716006" cy="402754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48F509AD-F017-C23E-94D9-CA3B0FF3DF89}"/>
              </a:ext>
            </a:extLst>
          </p:cNvPr>
          <p:cNvSpPr txBox="1"/>
          <p:nvPr/>
        </p:nvSpPr>
        <p:spPr>
          <a:xfrm>
            <a:off x="9185629" y="2880360"/>
            <a:ext cx="55175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mem</a:t>
            </a:r>
            <a:endParaRPr lang="en-DE" sz="7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077A69-60A9-78A9-BC68-E659F10C4A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4660489" y="1858639"/>
            <a:ext cx="7099505" cy="3627296"/>
          </a:xfrm>
          <a:prstGeom prst="rect">
            <a:avLst/>
          </a:prstGeom>
        </p:spPr>
      </p:pic>
      <p:pic>
        <p:nvPicPr>
          <p:cNvPr id="3" name="Picture 2" descr="Leading Engineering &amp; Technology Services | Mirafra">
            <a:extLst>
              <a:ext uri="{FF2B5EF4-FFF2-40B4-BE49-F238E27FC236}">
                <a16:creationId xmlns:a16="http://schemas.microsoft.com/office/drawing/2014/main" id="{A6330863-EDA7-B27F-B836-8E5C4AB0A4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62406" y="365125"/>
            <a:ext cx="1182788" cy="39327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AA6B96E-5236-1063-243F-06E86708F0B4}"/>
              </a:ext>
            </a:extLst>
          </p:cNvPr>
          <p:cNvSpPr txBox="1"/>
          <p:nvPr/>
        </p:nvSpPr>
        <p:spPr>
          <a:xfrm>
            <a:off x="730504" y="2103224"/>
            <a:ext cx="35268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>
                <a:latin typeface="XB Niloofar" panose="02000503080000020003" pitchFamily="2" charset="-78"/>
                <a:cs typeface="XB Niloofar" panose="02000503080000020003" pitchFamily="2" charset="-78"/>
              </a:rPr>
              <a:t>A </a:t>
            </a:r>
            <a:r>
              <a:rPr lang="en-DE" b="1" dirty="0">
                <a:latin typeface="XB Niloofar" panose="02000503080000020003" pitchFamily="2" charset="-78"/>
                <a:cs typeface="XB Niloofar" panose="02000503080000020003" pitchFamily="2" charset="-78"/>
              </a:rPr>
              <a:t>32-bit </a:t>
            </a:r>
            <a:r>
              <a:rPr lang="en-DE" dirty="0">
                <a:latin typeface="XB Niloofar" panose="02000503080000020003" pitchFamily="2" charset="-78"/>
                <a:cs typeface="XB Niloofar" panose="02000503080000020003" pitchFamily="2" charset="-78"/>
              </a:rPr>
              <a:t>single-issue RISC CPU with a cached memory system spanning two asynchronous clock domains, designed in synthesizable Verilog.</a:t>
            </a:r>
            <a:endParaRPr lang="en-US" dirty="0">
              <a:latin typeface="XB Niloofar" panose="02000503080000020003" pitchFamily="2" charset="-78"/>
              <a:cs typeface="XB Niloofar" panose="02000503080000020003" pitchFamily="2" charset="-78"/>
            </a:endParaRPr>
          </a:p>
          <a:p>
            <a:pPr rtl="0">
              <a:buNone/>
            </a:pPr>
            <a:endParaRPr lang="en-US" b="1" dirty="0">
              <a:latin typeface="XB Niloofar" panose="02000503080000020003" pitchFamily="2" charset="-78"/>
              <a:cs typeface="XB Niloofar" panose="02000503080000020003" pitchFamily="2" charset="-78"/>
            </a:endParaRPr>
          </a:p>
          <a:p>
            <a:pPr rtl="0">
              <a:buNone/>
            </a:pPr>
            <a:r>
              <a:rPr lang="en-DE" b="1" dirty="0">
                <a:latin typeface="XB Niloofar" panose="02000503080000020003" pitchFamily="2" charset="-78"/>
                <a:cs typeface="XB Niloofar" panose="02000503080000020003" pitchFamily="2" charset="-78"/>
              </a:rPr>
              <a:t>Objective</a:t>
            </a:r>
            <a:endParaRPr lang="en-DE" dirty="0">
              <a:latin typeface="XB Niloofar" panose="02000503080000020003" pitchFamily="2" charset="-78"/>
              <a:cs typeface="XB Niloofar" panose="02000503080000020003" pitchFamily="2" charset="-78"/>
            </a:endParaRP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DE" dirty="0">
                <a:latin typeface="XB Niloofar" panose="02000503080000020003" pitchFamily="2" charset="-78"/>
                <a:cs typeface="XB Niloofar" panose="02000503080000020003" pitchFamily="2" charset="-78"/>
              </a:rPr>
              <a:t>Design a RISC CPU that fetches from program memory and accesses data memory only through an L1 cache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DE" dirty="0">
                <a:latin typeface="XB Niloofar" panose="02000503080000020003" pitchFamily="2" charset="-78"/>
                <a:cs typeface="XB Niloofar" panose="02000503080000020003" pitchFamily="2" charset="-78"/>
              </a:rPr>
              <a:t>Safely connect a fast CPU domain to a slow memory domain</a:t>
            </a:r>
          </a:p>
          <a:p>
            <a:endParaRPr lang="en-DE" dirty="0">
              <a:latin typeface="XB Niloofar" panose="02000503080000020003" pitchFamily="2" charset="-78"/>
              <a:cs typeface="XB Niloofar" panose="02000503080000020003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8097451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128D7-0419-E4A6-2325-D421F46AE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FFBF94B5-8371-05BE-0B89-4544AD7FA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XB Niloofar" panose="02000503080000020003" pitchFamily="2" charset="-78"/>
                <a:cs typeface="XB Niloofar" panose="02000503080000020003" pitchFamily="2" charset="-78"/>
              </a:rPr>
              <a:t>Key Specification</a:t>
            </a:r>
            <a:endParaRPr lang="en-DE" b="1" dirty="0">
              <a:latin typeface="XB Niloofar" panose="02000503080000020003" pitchFamily="2" charset="-78"/>
              <a:cs typeface="XB Niloofar" panose="02000503080000020003" pitchFamily="2" charset="-78"/>
            </a:endParaRPr>
          </a:p>
        </p:txBody>
      </p:sp>
      <p:graphicFrame>
        <p:nvGraphicFramePr>
          <p:cNvPr id="27" name="Content Placeholder 26">
            <a:extLst>
              <a:ext uri="{FF2B5EF4-FFF2-40B4-BE49-F238E27FC236}">
                <a16:creationId xmlns:a16="http://schemas.microsoft.com/office/drawing/2014/main" id="{75C85E1A-90FD-4198-4A10-C5520838CCE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98114161"/>
              </p:ext>
            </p:extLst>
          </p:nvPr>
        </p:nvGraphicFramePr>
        <p:xfrm>
          <a:off x="838200" y="1926662"/>
          <a:ext cx="10515600" cy="3931920"/>
        </p:xfrm>
        <a:graphic>
          <a:graphicData uri="http://schemas.openxmlformats.org/drawingml/2006/table">
            <a:tbl>
              <a:tblPr>
                <a:tableStyleId>{68D230F3-CF80-4859-8CE7-A43EE81993B5}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560928428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40065306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b="1" dirty="0">
                          <a:latin typeface="XB Niloofar" panose="02000503080000020003" pitchFamily="2" charset="-78"/>
                          <a:cs typeface="XB Niloofar" panose="02000503080000020003" pitchFamily="2" charset="-78"/>
                        </a:rPr>
                        <a:t>Item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b="1" dirty="0">
                          <a:latin typeface="XB Niloofar" panose="02000503080000020003" pitchFamily="2" charset="-78"/>
                          <a:cs typeface="XB Niloofar" panose="02000503080000020003" pitchFamily="2" charset="-78"/>
                        </a:rPr>
                        <a:t>Detail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91266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dirty="0">
                          <a:latin typeface="XB Niloofar" panose="02000503080000020003" pitchFamily="2" charset="-78"/>
                          <a:cs typeface="XB Niloofar" panose="02000503080000020003" pitchFamily="2" charset="-78"/>
                        </a:rPr>
                        <a:t>Datapath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>
                          <a:latin typeface="XB Niloofar" panose="02000503080000020003" pitchFamily="2" charset="-78"/>
                          <a:cs typeface="XB Niloofar" panose="02000503080000020003" pitchFamily="2" charset="-78"/>
                        </a:rPr>
                        <a:t>32-bit, 16 registers (R0–R15), 12-bit PC, 4-bit PSR (Z, N, C, V)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51590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>
                          <a:latin typeface="XB Niloofar" panose="02000503080000020003" pitchFamily="2" charset="-78"/>
                          <a:cs typeface="XB Niloofar" panose="02000503080000020003" pitchFamily="2" charset="-78"/>
                        </a:rPr>
                        <a:t>ISA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>
                          <a:latin typeface="XB Niloofar" panose="02000503080000020003" pitchFamily="2" charset="-78"/>
                          <a:cs typeface="XB Niloofar" panose="02000503080000020003" pitchFamily="2" charset="-78"/>
                        </a:rPr>
                        <a:t>Fixed 32-bit instructions, about 38 instructions (ALU, load/store, branches, shifts)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69586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>
                          <a:latin typeface="XB Niloofar" panose="02000503080000020003" pitchFamily="2" charset="-78"/>
                          <a:cs typeface="XB Niloofar" panose="02000503080000020003" pitchFamily="2" charset="-78"/>
                        </a:rPr>
                        <a:t>Fast domain (150 MHz)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>
                          <a:latin typeface="XB Niloofar" panose="02000503080000020003" pitchFamily="2" charset="-78"/>
                          <a:cs typeface="XB Niloofar" panose="02000503080000020003" pitchFamily="2" charset="-78"/>
                        </a:rPr>
                        <a:t>CPU core, L1 data cache, program memory (4K × 32)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4896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dirty="0">
                          <a:latin typeface="XB Niloofar" panose="02000503080000020003" pitchFamily="2" charset="-78"/>
                          <a:cs typeface="XB Niloofar" panose="02000503080000020003" pitchFamily="2" charset="-78"/>
                        </a:rPr>
                        <a:t>Slow domain (70 MHz)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>
                          <a:latin typeface="XB Niloofar" panose="02000503080000020003" pitchFamily="2" charset="-78"/>
                          <a:cs typeface="XB Niloofar" panose="02000503080000020003" pitchFamily="2" charset="-78"/>
                        </a:rPr>
                        <a:t>Data memory (16K × 32)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344149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>
                          <a:latin typeface="XB Niloofar" panose="02000503080000020003" pitchFamily="2" charset="-78"/>
                          <a:cs typeface="XB Niloofar" panose="02000503080000020003" pitchFamily="2" charset="-78"/>
                        </a:rPr>
                        <a:t>Cache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>
                          <a:latin typeface="XB Niloofar" panose="02000503080000020003" pitchFamily="2" charset="-78"/>
                          <a:cs typeface="XB Niloofar" panose="02000503080000020003" pitchFamily="2" charset="-78"/>
                        </a:rPr>
                        <a:t>Direct-mapped, write-back with dirty bit, write-allocate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16371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dirty="0">
                          <a:latin typeface="XB Niloofar" panose="02000503080000020003" pitchFamily="2" charset="-78"/>
                          <a:cs typeface="XB Niloofar" panose="02000503080000020003" pitchFamily="2" charset="-78"/>
                        </a:rPr>
                        <a:t>CDC bridge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dirty="0">
                          <a:latin typeface="XB Niloofar" panose="02000503080000020003" pitchFamily="2" charset="-78"/>
                          <a:cs typeface="XB Niloofar" panose="02000503080000020003" pitchFamily="2" charset="-78"/>
                        </a:rPr>
                        <a:t>Async FIFOs, Gray-coded pointers, 2-flop synchronizers (the only domain crossing)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7139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24874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28DA5ED-3D91-FB6C-E7B1-57B461FC4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ctr"/>
            <a:r>
              <a:rPr lang="en-US" b="1" dirty="0">
                <a:latin typeface="XB Niloofar" panose="02000503080000020003" pitchFamily="2" charset="-78"/>
                <a:cs typeface="XB Niloofar" panose="02000503080000020003" pitchFamily="2" charset="-78"/>
              </a:rPr>
              <a:t>Micro Architecture</a:t>
            </a:r>
            <a:endParaRPr lang="en-DE" b="1" dirty="0">
              <a:latin typeface="XB Niloofar" panose="02000503080000020003" pitchFamily="2" charset="-78"/>
              <a:cs typeface="XB Niloofar" panose="02000503080000020003" pitchFamily="2" charset="-78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9B27E6-1B67-68BA-E042-9031F227B0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305987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DF96B-7B1F-6643-79AA-F822083C2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AE9E310-F525-44D3-DDBB-4AC4E6CFFA5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330"/>
          <a:stretch>
            <a:fillRect/>
          </a:stretch>
        </p:blipFill>
        <p:spPr>
          <a:xfrm>
            <a:off x="-1" y="1258529"/>
            <a:ext cx="12196438" cy="4667966"/>
          </a:xfrm>
          <a:prstGeom prst="rect">
            <a:avLst/>
          </a:prstGeom>
        </p:spPr>
      </p:pic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1" name="Slide Zoom 10">
                <a:extLst>
                  <a:ext uri="{FF2B5EF4-FFF2-40B4-BE49-F238E27FC236}">
                    <a16:creationId xmlns:a16="http://schemas.microsoft.com/office/drawing/2014/main" id="{835BCD6D-4869-12D2-A067-3AB3A87FC260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080505474"/>
                  </p:ext>
                </p:extLst>
              </p:nvPr>
            </p:nvGraphicFramePr>
            <p:xfrm>
              <a:off x="9057783" y="3134953"/>
              <a:ext cx="716006" cy="402754"/>
            </p:xfrm>
            <a:graphic>
              <a:graphicData uri="http://schemas.microsoft.com/office/powerpoint/2016/slidezoom">
                <pslz:sldZm>
                  <pslz:sldZmObj sldId="258" cId="15702998">
                    <pslz:zmPr id="{719C769D-3CF8-4A89-894E-018796295D55}" returnToParent="0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716006" cy="402754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1" name="Slide Zoom 10">
                <a:hlinkClick r:id="rId4" action="ppaction://hlinksldjump"/>
                <a:extLst>
                  <a:ext uri="{FF2B5EF4-FFF2-40B4-BE49-F238E27FC236}">
                    <a16:creationId xmlns:a16="http://schemas.microsoft.com/office/drawing/2014/main" id="{835BCD6D-4869-12D2-A067-3AB3A87FC26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057783" y="3134953"/>
                <a:ext cx="716006" cy="402754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B64E9FBA-8E31-72B8-869A-13FB072B5D16}"/>
              </a:ext>
            </a:extLst>
          </p:cNvPr>
          <p:cNvSpPr txBox="1"/>
          <p:nvPr/>
        </p:nvSpPr>
        <p:spPr>
          <a:xfrm>
            <a:off x="9139909" y="2934898"/>
            <a:ext cx="55175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mem</a:t>
            </a:r>
            <a:endParaRPr lang="en-DE" sz="7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 descr="Leading Engineering &amp; Technology Services | Mirafra">
            <a:extLst>
              <a:ext uri="{FF2B5EF4-FFF2-40B4-BE49-F238E27FC236}">
                <a16:creationId xmlns:a16="http://schemas.microsoft.com/office/drawing/2014/main" id="{70A12A80-A02B-16FD-4116-9CEE212513F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62406" y="365125"/>
            <a:ext cx="1182788" cy="39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4360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6A528-5305-9DD9-2C03-273C6C3C4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83E8E-9AA8-D893-CFAF-5E117EF49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1E4D718-5802-93FC-A821-1691B7FBF5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28315"/>
            <a:ext cx="10515600" cy="4345957"/>
          </a:xfrm>
          <a:prstGeom prst="rect">
            <a:avLst/>
          </a:prstGeom>
        </p:spPr>
      </p:pic>
      <p:pic>
        <p:nvPicPr>
          <p:cNvPr id="5" name="Picture 4" descr="Leading Engineering &amp; Technology Services | Mirafra">
            <a:extLst>
              <a:ext uri="{FF2B5EF4-FFF2-40B4-BE49-F238E27FC236}">
                <a16:creationId xmlns:a16="http://schemas.microsoft.com/office/drawing/2014/main" id="{291C18B3-A5E9-7F40-9B92-D486749333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62406" y="365125"/>
            <a:ext cx="1182788" cy="39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29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5E794-B558-FE10-F2C9-2DADC80F2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4A7BB6EF-1C7E-27B9-7D07-6B48A6C90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XB Niloofar" panose="02000503080000020003" pitchFamily="2" charset="-78"/>
                <a:cs typeface="XB Niloofar" panose="02000503080000020003" pitchFamily="2" charset="-78"/>
              </a:rPr>
              <a:t>L1 Cache Parameters</a:t>
            </a:r>
            <a:endParaRPr lang="en-DE" b="1" dirty="0">
              <a:latin typeface="XB Niloofar" panose="02000503080000020003" pitchFamily="2" charset="-78"/>
              <a:cs typeface="XB Niloofar" panose="02000503080000020003" pitchFamily="2" charset="-78"/>
            </a:endParaRPr>
          </a:p>
        </p:txBody>
      </p:sp>
      <p:graphicFrame>
        <p:nvGraphicFramePr>
          <p:cNvPr id="27" name="Content Placeholder 26">
            <a:extLst>
              <a:ext uri="{FF2B5EF4-FFF2-40B4-BE49-F238E27FC236}">
                <a16:creationId xmlns:a16="http://schemas.microsoft.com/office/drawing/2014/main" id="{1B1FB130-5E05-F326-8105-B74B2FFB37B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52129980"/>
              </p:ext>
            </p:extLst>
          </p:nvPr>
        </p:nvGraphicFramePr>
        <p:xfrm>
          <a:off x="838200" y="2148840"/>
          <a:ext cx="10515600" cy="2560320"/>
        </p:xfrm>
        <a:graphic>
          <a:graphicData uri="http://schemas.openxmlformats.org/drawingml/2006/table">
            <a:tbl>
              <a:tblPr>
                <a:tableStyleId>{68D230F3-CF80-4859-8CE7-A43EE81993B5}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560928428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40065306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b="1">
                          <a:latin typeface="XB Niloofar" panose="02000503080000020003" pitchFamily="2" charset="-78"/>
                          <a:cs typeface="XB Niloofar" panose="02000503080000020003" pitchFamily="2" charset="-78"/>
                        </a:rPr>
                        <a:t>Parameter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b="1" dirty="0">
                          <a:latin typeface="XB Niloofar" panose="02000503080000020003" pitchFamily="2" charset="-78"/>
                          <a:cs typeface="XB Niloofar" panose="02000503080000020003" pitchFamily="2" charset="-78"/>
                        </a:rPr>
                        <a:t>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91266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>
                          <a:latin typeface="XB Niloofar" panose="02000503080000020003" pitchFamily="2" charset="-78"/>
                          <a:cs typeface="XB Niloofar" panose="02000503080000020003" pitchFamily="2" charset="-78"/>
                        </a:rPr>
                        <a:t>Mapping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>
                          <a:latin typeface="XB Niloofar" panose="02000503080000020003" pitchFamily="2" charset="-78"/>
                          <a:cs typeface="XB Niloofar" panose="02000503080000020003" pitchFamily="2" charset="-78"/>
                        </a:rPr>
                        <a:t>Direct-mapped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51590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>
                          <a:latin typeface="XB Niloofar" panose="02000503080000020003" pitchFamily="2" charset="-78"/>
                          <a:cs typeface="XB Niloofar" panose="02000503080000020003" pitchFamily="2" charset="-78"/>
                        </a:rPr>
                        <a:t>Line size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>
                          <a:latin typeface="XB Niloofar" panose="02000503080000020003" pitchFamily="2" charset="-78"/>
                          <a:cs typeface="XB Niloofar" panose="02000503080000020003" pitchFamily="2" charset="-78"/>
                        </a:rPr>
                        <a:t>4 words (128 bits)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69586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>
                          <a:latin typeface="XB Niloofar" panose="02000503080000020003" pitchFamily="2" charset="-78"/>
                          <a:cs typeface="XB Niloofar" panose="02000503080000020003" pitchFamily="2" charset="-78"/>
                        </a:rPr>
                        <a:t>Number of lines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>
                          <a:latin typeface="XB Niloofar" panose="02000503080000020003" pitchFamily="2" charset="-78"/>
                          <a:cs typeface="XB Niloofar" panose="02000503080000020003" pitchFamily="2" charset="-78"/>
                        </a:rPr>
                        <a:t>64 (parameterized)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4896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>
                          <a:latin typeface="XB Niloofar" panose="02000503080000020003" pitchFamily="2" charset="-78"/>
                          <a:cs typeface="XB Niloofar" panose="02000503080000020003" pitchFamily="2" charset="-78"/>
                        </a:rPr>
                        <a:t>Capacity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>
                          <a:latin typeface="XB Niloofar" panose="02000503080000020003" pitchFamily="2" charset="-78"/>
                          <a:cs typeface="XB Niloofar" panose="02000503080000020003" pitchFamily="2" charset="-78"/>
                        </a:rPr>
                        <a:t>256 words (1 KB)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344149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>
                          <a:latin typeface="XB Niloofar" panose="02000503080000020003" pitchFamily="2" charset="-78"/>
                          <a:cs typeface="XB Niloofar" panose="02000503080000020003" pitchFamily="2" charset="-78"/>
                        </a:rPr>
                        <a:t>Address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>
                          <a:latin typeface="XB Niloofar" panose="02000503080000020003" pitchFamily="2" charset="-78"/>
                          <a:cs typeface="XB Niloofar" panose="02000503080000020003" pitchFamily="2" charset="-78"/>
                        </a:rPr>
                        <a:t>14-bit word address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16371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>
                          <a:latin typeface="XB Niloofar" panose="02000503080000020003" pitchFamily="2" charset="-78"/>
                          <a:cs typeface="XB Niloofar" panose="02000503080000020003" pitchFamily="2" charset="-78"/>
                        </a:rPr>
                        <a:t>Write policy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dirty="0">
                          <a:latin typeface="XB Niloofar" panose="02000503080000020003" pitchFamily="2" charset="-78"/>
                          <a:cs typeface="XB Niloofar" panose="02000503080000020003" pitchFamily="2" charset="-78"/>
                        </a:rPr>
                        <a:t>Write-back, write-allocate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7139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21605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BF12C-F6EA-E818-050D-2EA741445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XB Niloofar" panose="02000503080000020003" pitchFamily="2" charset="-78"/>
                <a:cs typeface="XB Niloofar" panose="02000503080000020003" pitchFamily="2" charset="-78"/>
              </a:rPr>
              <a:t>Cache Behavior</a:t>
            </a:r>
            <a:endParaRPr lang="en-DE" b="1" dirty="0">
              <a:latin typeface="XB Niloofar" panose="02000503080000020003" pitchFamily="2" charset="-78"/>
              <a:cs typeface="XB Niloofar" panose="02000503080000020003" pitchFamily="2" charset="-78"/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481B535-0342-F2D3-CEB0-E0813501801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34566358"/>
              </p:ext>
            </p:extLst>
          </p:nvPr>
        </p:nvGraphicFramePr>
        <p:xfrm>
          <a:off x="838200" y="2286000"/>
          <a:ext cx="10515600" cy="228600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113727500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54297165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4058337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b="1">
                          <a:latin typeface="XB Niloofar" panose="02000503080000020003" pitchFamily="2" charset="-78"/>
                          <a:cs typeface="XB Niloofar" panose="02000503080000020003" pitchFamily="2" charset="-78"/>
                        </a:rPr>
                        <a:t>Access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b="1">
                          <a:latin typeface="XB Niloofar" panose="02000503080000020003" pitchFamily="2" charset="-78"/>
                          <a:cs typeface="XB Niloofar" panose="02000503080000020003" pitchFamily="2" charset="-78"/>
                        </a:rPr>
                        <a:t>Hit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b="1" dirty="0">
                          <a:latin typeface="XB Niloofar" panose="02000503080000020003" pitchFamily="2" charset="-78"/>
                          <a:cs typeface="XB Niloofar" panose="02000503080000020003" pitchFamily="2" charset="-78"/>
                        </a:rPr>
                        <a:t>Miss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6235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>
                          <a:latin typeface="XB Niloofar" panose="02000503080000020003" pitchFamily="2" charset="-78"/>
                          <a:cs typeface="XB Niloofar" panose="02000503080000020003" pitchFamily="2" charset="-78"/>
                        </a:rPr>
                        <a:t>Read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dirty="0">
                          <a:latin typeface="XB Niloofar" panose="02000503080000020003" pitchFamily="2" charset="-78"/>
                          <a:cs typeface="XB Niloofar" panose="02000503080000020003" pitchFamily="2" charset="-78"/>
                        </a:rPr>
                        <a:t>Return word in 1 cycle, no memory traffic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>
                          <a:latin typeface="XB Niloofar" panose="02000503080000020003" pitchFamily="2" charset="-78"/>
                          <a:cs typeface="XB Niloofar" panose="02000503080000020003" pitchFamily="2" charset="-78"/>
                        </a:rPr>
                        <a:t>Fill line from memory, then return the word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182739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dirty="0">
                          <a:latin typeface="XB Niloofar" panose="02000503080000020003" pitchFamily="2" charset="-78"/>
                          <a:cs typeface="XB Niloofar" panose="02000503080000020003" pitchFamily="2" charset="-78"/>
                        </a:rPr>
                        <a:t>Write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>
                          <a:latin typeface="XB Niloofar" panose="02000503080000020003" pitchFamily="2" charset="-78"/>
                          <a:cs typeface="XB Niloofar" panose="02000503080000020003" pitchFamily="2" charset="-78"/>
                        </a:rPr>
                        <a:t>Update word, set dirty, no memory traffic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>
                          <a:latin typeface="XB Niloofar" panose="02000503080000020003" pitchFamily="2" charset="-78"/>
                          <a:cs typeface="XB Niloofar" panose="02000503080000020003" pitchFamily="2" charset="-78"/>
                        </a:rPr>
                        <a:t>Fill line (write-allocate), apply write, set dirty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12193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>
                          <a:latin typeface="XB Niloofar" panose="02000503080000020003" pitchFamily="2" charset="-78"/>
                          <a:cs typeface="XB Niloofar" panose="02000503080000020003" pitchFamily="2" charset="-78"/>
                        </a:rPr>
                        <a:t>Miss on dirty 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dirty="0">
                          <a:latin typeface="XB Niloofar" panose="02000503080000020003" pitchFamily="2" charset="-78"/>
                          <a:cs typeface="XB Niloofar" panose="02000503080000020003" pitchFamily="2" charset="-78"/>
                        </a:rPr>
                        <a:t>n/a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dirty="0">
                          <a:latin typeface="XB Niloofar" panose="02000503080000020003" pitchFamily="2" charset="-78"/>
                          <a:cs typeface="XB Niloofar" panose="02000503080000020003" pitchFamily="2" charset="-78"/>
                        </a:rPr>
                        <a:t>Write back the old line first, then fill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3028962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0A3623D-E98F-F90A-4178-09ECFCFCADA1}"/>
              </a:ext>
            </a:extLst>
          </p:cNvPr>
          <p:cNvSpPr txBox="1"/>
          <p:nvPr/>
        </p:nvSpPr>
        <p:spPr>
          <a:xfrm>
            <a:off x="838200" y="4946925"/>
            <a:ext cx="6096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XB Niloofar" panose="02000503080000020003" pitchFamily="2" charset="-78"/>
                <a:cs typeface="XB Niloofar" panose="02000503080000020003" pitchFamily="2" charset="-78"/>
              </a:rPr>
              <a:t>Address Split:</a:t>
            </a:r>
          </a:p>
          <a:p>
            <a:endParaRPr lang="en-US" sz="800" dirty="0">
              <a:latin typeface="XB Niloofar" panose="02000503080000020003" pitchFamily="2" charset="-78"/>
              <a:cs typeface="XB Niloofar" panose="02000503080000020003" pitchFamily="2" charset="-78"/>
            </a:endParaRPr>
          </a:p>
          <a:p>
            <a:r>
              <a:rPr lang="en-DE" dirty="0">
                <a:latin typeface="XB Niloofar" panose="02000503080000020003" pitchFamily="2" charset="-78"/>
                <a:cs typeface="XB Niloofar" panose="02000503080000020003" pitchFamily="2" charset="-78"/>
              </a:rPr>
              <a:t>| </a:t>
            </a:r>
            <a:r>
              <a:rPr lang="en-DE" b="1" dirty="0">
                <a:latin typeface="XB Niloofar" panose="02000503080000020003" pitchFamily="2" charset="-78"/>
                <a:cs typeface="XB Niloofar" panose="02000503080000020003" pitchFamily="2" charset="-78"/>
              </a:rPr>
              <a:t>Tag [13:8] | Index [7:2] | Offset [1:0] </a:t>
            </a:r>
            <a:r>
              <a:rPr lang="en-DE" dirty="0">
                <a:latin typeface="XB Niloofar" panose="02000503080000020003" pitchFamily="2" charset="-78"/>
                <a:cs typeface="XB Niloofar" panose="02000503080000020003" pitchFamily="2" charset="-78"/>
              </a:rPr>
              <a:t>|</a:t>
            </a:r>
            <a:endParaRPr lang="en-US" dirty="0">
              <a:latin typeface="XB Niloofar" panose="02000503080000020003" pitchFamily="2" charset="-78"/>
              <a:cs typeface="XB Niloofar" panose="02000503080000020003" pitchFamily="2" charset="-78"/>
            </a:endParaRPr>
          </a:p>
          <a:p>
            <a:r>
              <a:rPr lang="en-US" dirty="0">
                <a:latin typeface="XB Niloofar" panose="02000503080000020003" pitchFamily="2" charset="-78"/>
                <a:cs typeface="XB Niloofar" panose="02000503080000020003" pitchFamily="2" charset="-78"/>
              </a:rPr>
              <a:t>-----------------------------------</a:t>
            </a:r>
            <a:r>
              <a:rPr lang="en-DE" dirty="0">
                <a:latin typeface="XB Niloofar" panose="02000503080000020003" pitchFamily="2" charset="-78"/>
                <a:cs typeface="XB Niloofar" panose="02000503080000020003" pitchFamily="2" charset="-78"/>
              </a:rPr>
              <a:t> </a:t>
            </a:r>
            <a:endParaRPr lang="en-US" dirty="0">
              <a:latin typeface="XB Niloofar" panose="02000503080000020003" pitchFamily="2" charset="-78"/>
              <a:cs typeface="XB Niloofar" panose="02000503080000020003" pitchFamily="2" charset="-78"/>
            </a:endParaRPr>
          </a:p>
          <a:p>
            <a:r>
              <a:rPr lang="en-DE" dirty="0">
                <a:latin typeface="XB Niloofar" panose="02000503080000020003" pitchFamily="2" charset="-78"/>
                <a:cs typeface="XB Niloofar" panose="02000503080000020003" pitchFamily="2" charset="-78"/>
              </a:rPr>
              <a:t>| 6 bits </a:t>
            </a:r>
            <a:r>
              <a:rPr lang="en-US" dirty="0">
                <a:latin typeface="XB Niloofar" panose="02000503080000020003" pitchFamily="2" charset="-78"/>
                <a:cs typeface="XB Niloofar" panose="02000503080000020003" pitchFamily="2" charset="-78"/>
              </a:rPr>
              <a:t>          |</a:t>
            </a:r>
            <a:r>
              <a:rPr lang="en-DE" dirty="0">
                <a:latin typeface="XB Niloofar" panose="02000503080000020003" pitchFamily="2" charset="-78"/>
                <a:cs typeface="XB Niloofar" panose="02000503080000020003" pitchFamily="2" charset="-78"/>
              </a:rPr>
              <a:t> 6 bits </a:t>
            </a:r>
            <a:r>
              <a:rPr lang="en-US" dirty="0">
                <a:latin typeface="XB Niloofar" panose="02000503080000020003" pitchFamily="2" charset="-78"/>
                <a:cs typeface="XB Niloofar" panose="02000503080000020003" pitchFamily="2" charset="-78"/>
              </a:rPr>
              <a:t>            | </a:t>
            </a:r>
            <a:r>
              <a:rPr lang="en-DE" dirty="0">
                <a:latin typeface="XB Niloofar" panose="02000503080000020003" pitchFamily="2" charset="-78"/>
                <a:cs typeface="XB Niloofar" panose="02000503080000020003" pitchFamily="2" charset="-78"/>
              </a:rPr>
              <a:t> 2 bits </a:t>
            </a:r>
            <a:r>
              <a:rPr lang="en-US" dirty="0">
                <a:latin typeface="XB Niloofar" panose="02000503080000020003" pitchFamily="2" charset="-78"/>
                <a:cs typeface="XB Niloofar" panose="02000503080000020003" pitchFamily="2" charset="-78"/>
              </a:rPr>
              <a:t>           |</a:t>
            </a:r>
            <a:endParaRPr lang="en-DE" dirty="0">
              <a:latin typeface="XB Niloofar" panose="02000503080000020003" pitchFamily="2" charset="-78"/>
              <a:cs typeface="XB Niloofar" panose="02000503080000020003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0639004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B4980F-2A4F-326F-10E9-078912308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C37F4-FAAD-6E66-347D-A1FDBF83A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5F11C02-74E8-9C56-0AC9-A35AE48956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000" y="116682"/>
            <a:ext cx="3396599" cy="6624633"/>
          </a:xfrm>
          <a:prstGeom prst="rect">
            <a:avLst/>
          </a:prstGeom>
        </p:spPr>
      </p:pic>
      <p:pic>
        <p:nvPicPr>
          <p:cNvPr id="5" name="Picture 4" descr="Leading Engineering &amp; Technology Services | Mirafra">
            <a:extLst>
              <a:ext uri="{FF2B5EF4-FFF2-40B4-BE49-F238E27FC236}">
                <a16:creationId xmlns:a16="http://schemas.microsoft.com/office/drawing/2014/main" id="{DBCE317A-4411-A09B-E8AF-8D64DBFA58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62406" y="365125"/>
            <a:ext cx="1182788" cy="39327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C2F568F-14BF-94A2-C4B9-7324C1DC9123}"/>
              </a:ext>
            </a:extLst>
          </p:cNvPr>
          <p:cNvSpPr txBox="1"/>
          <p:nvPr/>
        </p:nvSpPr>
        <p:spPr>
          <a:xfrm>
            <a:off x="1108260" y="3428998"/>
            <a:ext cx="3182281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>
                <a:latin typeface="XB Niloofar" panose="02000503080000020003" pitchFamily="2" charset="-78"/>
                <a:cs typeface="XB Niloofar" panose="02000503080000020003" pitchFamily="2" charset="-78"/>
              </a:rPr>
              <a:t>L1 Cache </a:t>
            </a:r>
          </a:p>
          <a:p>
            <a:pPr algn="ctr"/>
            <a:r>
              <a:rPr lang="en-US" sz="3200" b="1" dirty="0">
                <a:latin typeface="XB Niloofar" panose="02000503080000020003" pitchFamily="2" charset="-78"/>
                <a:cs typeface="XB Niloofar" panose="02000503080000020003" pitchFamily="2" charset="-78"/>
              </a:rPr>
              <a:t>Controller FSM</a:t>
            </a:r>
            <a:endParaRPr lang="en-DE" sz="3200" b="1" dirty="0">
              <a:latin typeface="XB Niloofar" panose="02000503080000020003" pitchFamily="2" charset="-78"/>
              <a:cs typeface="XB Niloofar" panose="02000503080000020003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733499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66ECA-1AD5-E995-DD7F-B4BC54AF6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XB Niloofar" panose="02000503080000020003" pitchFamily="2" charset="-78"/>
                <a:cs typeface="XB Niloofar" panose="02000503080000020003" pitchFamily="2" charset="-78"/>
              </a:rPr>
              <a:t>Forwarding Unit</a:t>
            </a:r>
            <a:endParaRPr lang="en-DE" b="1" dirty="0">
              <a:latin typeface="XB Niloofar" panose="02000503080000020003" pitchFamily="2" charset="-78"/>
              <a:cs typeface="XB Niloofar" panose="02000503080000020003" pitchFamily="2" charset="-78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9E8D90D-3223-0DEF-CACA-8F9A248247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25466" y="2313317"/>
            <a:ext cx="9541067" cy="3375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0697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683F8-A45C-661E-BBDA-F51FAE84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XB Niloofar" panose="02000503080000020003" pitchFamily="2" charset="-78"/>
                <a:cs typeface="XB Niloofar" panose="02000503080000020003" pitchFamily="2" charset="-78"/>
              </a:rPr>
              <a:t>Lint results</a:t>
            </a:r>
            <a:endParaRPr lang="en-DE" b="1" dirty="0">
              <a:latin typeface="XB Niloofar" panose="02000503080000020003" pitchFamily="2" charset="-78"/>
              <a:cs typeface="XB Niloofar" panose="02000503080000020003" pitchFamily="2" charset="-78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0A9AACD-98C9-A071-FD4C-C556914ADE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21259"/>
          <a:stretch>
            <a:fillRect/>
          </a:stretch>
        </p:blipFill>
        <p:spPr>
          <a:xfrm>
            <a:off x="1248698" y="2074606"/>
            <a:ext cx="8878528" cy="179983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61928D2-7C00-C24F-E234-FA43434DE0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3610" b="4104"/>
          <a:stretch>
            <a:fillRect/>
          </a:stretch>
        </p:blipFill>
        <p:spPr>
          <a:xfrm>
            <a:off x="1248698" y="4258357"/>
            <a:ext cx="8878528" cy="2083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1861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FED44-31A0-CAB4-5A26-BABA1DD62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A5049-9AE5-0CEE-2FFF-E5C9DDAC4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XB Niloofar" panose="02000503080000020003" pitchFamily="2" charset="-78"/>
                <a:cs typeface="XB Niloofar" panose="02000503080000020003" pitchFamily="2" charset="-78"/>
              </a:rPr>
              <a:t>CDC results</a:t>
            </a:r>
            <a:endParaRPr lang="en-DE" b="1" dirty="0">
              <a:latin typeface="XB Niloofar" panose="02000503080000020003" pitchFamily="2" charset="-78"/>
              <a:cs typeface="XB Niloofar" panose="02000503080000020003" pitchFamily="2" charset="-78"/>
            </a:endParaRP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D436B56-4ED5-5E01-8406-3DB68E1629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9300"/>
          <a:stretch>
            <a:fillRect/>
          </a:stretch>
        </p:blipFill>
        <p:spPr>
          <a:xfrm>
            <a:off x="1134871" y="2094270"/>
            <a:ext cx="9922258" cy="3936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3820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F9A523-DDFB-7E64-7A96-3719B9B43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7AEC0-5D52-3E45-D19D-4848FAF6B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XB Niloofar" panose="02000503080000020003" pitchFamily="2" charset="-78"/>
                <a:cs typeface="XB Niloofar" panose="02000503080000020003" pitchFamily="2" charset="-78"/>
              </a:rPr>
              <a:t>SDC Constraints</a:t>
            </a:r>
            <a:endParaRPr lang="en-DE" b="1" dirty="0">
              <a:latin typeface="XB Niloofar" panose="02000503080000020003" pitchFamily="2" charset="-78"/>
              <a:cs typeface="XB Niloofar" panose="02000503080000020003" pitchFamily="2" charset="-78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58DD6D-EBAB-2203-39BF-884CA4594CB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40000" lnSpcReduction="20000"/>
          </a:bodyPr>
          <a:lstStyle/>
          <a:p>
            <a:pPr>
              <a:buFont typeface="XB Niloofar" panose="02000503080000020003" pitchFamily="2" charset="-78"/>
              <a:buChar char="&gt;"/>
            </a:pPr>
            <a:r>
              <a:rPr lang="en-IN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create_clock</a:t>
            </a: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 -name </a:t>
            </a:r>
            <a:r>
              <a:rPr lang="en-IN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Clk_Fast</a:t>
            </a: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 -period 6.6667 -waveform </a:t>
            </a:r>
          </a:p>
          <a:p>
            <a:pPr marL="0" indent="0">
              <a:buNone/>
            </a:pP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		{0 3.3333}  [</a:t>
            </a:r>
            <a:r>
              <a:rPr lang="en-IN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get_ports</a:t>
            </a: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 </a:t>
            </a:r>
            <a:r>
              <a:rPr lang="en-IN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Clk_Fast</a:t>
            </a: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]</a:t>
            </a:r>
            <a:endParaRPr lang="en-DE" dirty="0">
              <a:latin typeface="XB Niloofar" panose="02000503080000020003" pitchFamily="2" charset="-78"/>
              <a:cs typeface="XB Niloofar" panose="02000503080000020003" pitchFamily="2" charset="-78"/>
            </a:endParaRPr>
          </a:p>
          <a:p>
            <a:pPr>
              <a:buFont typeface="XB Niloofar" panose="02000503080000020003" pitchFamily="2" charset="-78"/>
              <a:buChar char="&gt;"/>
            </a:pPr>
            <a:r>
              <a:rPr lang="en-IN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create_clock</a:t>
            </a: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 -name </a:t>
            </a:r>
            <a:r>
              <a:rPr lang="en-IN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Clk_Slow</a:t>
            </a: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 -period 14.2857 –</a:t>
            </a:r>
          </a:p>
          <a:p>
            <a:pPr marL="0" indent="0">
              <a:buNone/>
            </a:pP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	\waveform {0 7.1429} [</a:t>
            </a:r>
            <a:r>
              <a:rPr lang="en-IN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get_ports</a:t>
            </a: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 </a:t>
            </a:r>
            <a:r>
              <a:rPr lang="en-IN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Clk_Slow</a:t>
            </a: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]</a:t>
            </a:r>
            <a:endParaRPr lang="en-DE" dirty="0">
              <a:latin typeface="XB Niloofar" panose="02000503080000020003" pitchFamily="2" charset="-78"/>
              <a:cs typeface="XB Niloofar" panose="02000503080000020003" pitchFamily="2" charset="-78"/>
            </a:endParaRPr>
          </a:p>
          <a:p>
            <a:pPr>
              <a:buFont typeface="XB Niloofar" panose="02000503080000020003" pitchFamily="2" charset="-78"/>
              <a:buChar char="&gt;"/>
            </a:pPr>
            <a:r>
              <a:rPr lang="en-IN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set_clock_uncertainty</a:t>
            </a: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 -setup 0.20 [</a:t>
            </a:r>
            <a:r>
              <a:rPr lang="en-IN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get_clocks</a:t>
            </a: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 </a:t>
            </a:r>
            <a:r>
              <a:rPr lang="en-IN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Clk_Fast</a:t>
            </a: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]</a:t>
            </a:r>
            <a:endParaRPr lang="en-DE" dirty="0">
              <a:latin typeface="XB Niloofar" panose="02000503080000020003" pitchFamily="2" charset="-78"/>
              <a:cs typeface="XB Niloofar" panose="02000503080000020003" pitchFamily="2" charset="-78"/>
            </a:endParaRPr>
          </a:p>
          <a:p>
            <a:pPr>
              <a:buFont typeface="XB Niloofar" panose="02000503080000020003" pitchFamily="2" charset="-78"/>
              <a:buChar char="&gt;"/>
            </a:pPr>
            <a:r>
              <a:rPr lang="en-IN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set_clock_uncertainty</a:t>
            </a: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 -hold  0.10 [</a:t>
            </a:r>
            <a:r>
              <a:rPr lang="en-IN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get_clocks</a:t>
            </a: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 </a:t>
            </a:r>
            <a:r>
              <a:rPr lang="en-IN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Clk_Fast</a:t>
            </a: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]</a:t>
            </a:r>
            <a:endParaRPr lang="en-DE" dirty="0">
              <a:latin typeface="XB Niloofar" panose="02000503080000020003" pitchFamily="2" charset="-78"/>
              <a:cs typeface="XB Niloofar" panose="02000503080000020003" pitchFamily="2" charset="-78"/>
            </a:endParaRPr>
          </a:p>
          <a:p>
            <a:pPr>
              <a:buFont typeface="XB Niloofar" panose="02000503080000020003" pitchFamily="2" charset="-78"/>
              <a:buChar char="&gt;"/>
            </a:pPr>
            <a:r>
              <a:rPr lang="en-IN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set_clock_uncertainty</a:t>
            </a: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 -setup 0.40 [</a:t>
            </a:r>
            <a:r>
              <a:rPr lang="en-IN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get_clocks</a:t>
            </a: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 </a:t>
            </a:r>
            <a:r>
              <a:rPr lang="en-IN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Clk_Slow</a:t>
            </a: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]</a:t>
            </a:r>
            <a:endParaRPr lang="en-DE" dirty="0">
              <a:latin typeface="XB Niloofar" panose="02000503080000020003" pitchFamily="2" charset="-78"/>
              <a:cs typeface="XB Niloofar" panose="02000503080000020003" pitchFamily="2" charset="-78"/>
            </a:endParaRPr>
          </a:p>
          <a:p>
            <a:pPr>
              <a:buFont typeface="XB Niloofar" panose="02000503080000020003" pitchFamily="2" charset="-78"/>
              <a:buChar char="&gt;"/>
            </a:pPr>
            <a:r>
              <a:rPr lang="en-IN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set_clock_uncertainty</a:t>
            </a: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 -hold  0.30 [</a:t>
            </a:r>
            <a:r>
              <a:rPr lang="en-IN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get_clocks</a:t>
            </a: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 </a:t>
            </a:r>
            <a:r>
              <a:rPr lang="en-IN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Clk_Slow</a:t>
            </a: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]</a:t>
            </a:r>
            <a:endParaRPr lang="en-DE" dirty="0">
              <a:latin typeface="XB Niloofar" panose="02000503080000020003" pitchFamily="2" charset="-78"/>
              <a:cs typeface="XB Niloofar" panose="02000503080000020003" pitchFamily="2" charset="-78"/>
            </a:endParaRPr>
          </a:p>
          <a:p>
            <a:pPr>
              <a:buFont typeface="XB Niloofar" panose="02000503080000020003" pitchFamily="2" charset="-78"/>
              <a:buChar char="&gt;"/>
            </a:pPr>
            <a:r>
              <a:rPr lang="en-IN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set_clock_latency</a:t>
            </a: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    -source 0.5 [</a:t>
            </a:r>
            <a:r>
              <a:rPr lang="en-IN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get_clocks</a:t>
            </a: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 </a:t>
            </a:r>
            <a:r>
              <a:rPr lang="en-IN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Clk_Fast</a:t>
            </a: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]</a:t>
            </a:r>
            <a:endParaRPr lang="en-DE" dirty="0">
              <a:latin typeface="XB Niloofar" panose="02000503080000020003" pitchFamily="2" charset="-78"/>
              <a:cs typeface="XB Niloofar" panose="02000503080000020003" pitchFamily="2" charset="-78"/>
            </a:endParaRPr>
          </a:p>
          <a:p>
            <a:pPr>
              <a:buFont typeface="XB Niloofar" panose="02000503080000020003" pitchFamily="2" charset="-78"/>
              <a:buChar char="&gt;"/>
            </a:pPr>
            <a:r>
              <a:rPr lang="en-IN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set_clock_latency</a:t>
            </a: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    -source 0.5 [</a:t>
            </a:r>
            <a:r>
              <a:rPr lang="en-IN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get_clocks</a:t>
            </a: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 </a:t>
            </a:r>
            <a:r>
              <a:rPr lang="en-IN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Clk_Slow</a:t>
            </a: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]</a:t>
            </a:r>
            <a:endParaRPr lang="en-DE" dirty="0">
              <a:latin typeface="XB Niloofar" panose="02000503080000020003" pitchFamily="2" charset="-78"/>
              <a:cs typeface="XB Niloofar" panose="02000503080000020003" pitchFamily="2" charset="-78"/>
            </a:endParaRPr>
          </a:p>
          <a:p>
            <a:pPr>
              <a:buFont typeface="XB Niloofar" panose="02000503080000020003" pitchFamily="2" charset="-78"/>
              <a:buChar char="&gt;"/>
            </a:pPr>
            <a:r>
              <a:rPr lang="en-IN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set_clock_transition</a:t>
            </a: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 0.10        [</a:t>
            </a:r>
            <a:r>
              <a:rPr lang="en-IN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get_clocks</a:t>
            </a: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 </a:t>
            </a:r>
            <a:r>
              <a:rPr lang="en-IN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Clk_Fast</a:t>
            </a: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]</a:t>
            </a:r>
            <a:endParaRPr lang="en-DE" dirty="0">
              <a:latin typeface="XB Niloofar" panose="02000503080000020003" pitchFamily="2" charset="-78"/>
              <a:cs typeface="XB Niloofar" panose="02000503080000020003" pitchFamily="2" charset="-78"/>
            </a:endParaRPr>
          </a:p>
          <a:p>
            <a:pPr>
              <a:buFont typeface="XB Niloofar" panose="02000503080000020003" pitchFamily="2" charset="-78"/>
              <a:buChar char="&gt;"/>
            </a:pPr>
            <a:r>
              <a:rPr lang="en-IN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set_clock_transition</a:t>
            </a: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 0.15        [</a:t>
            </a:r>
            <a:r>
              <a:rPr lang="en-IN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get_clocks</a:t>
            </a: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 </a:t>
            </a:r>
            <a:r>
              <a:rPr lang="en-IN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Clk_Slow</a:t>
            </a: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]</a:t>
            </a:r>
          </a:p>
          <a:p>
            <a:pPr>
              <a:buFont typeface="XB Niloofar" panose="02000503080000020003" pitchFamily="2" charset="-78"/>
              <a:buChar char="&gt;"/>
            </a:pPr>
            <a:r>
              <a:rPr lang="en-IN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set_clock_groups</a:t>
            </a: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 -asynchronous  -group [</a:t>
            </a:r>
            <a:r>
              <a:rPr lang="en-IN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get_clocks</a:t>
            </a: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 </a:t>
            </a:r>
            <a:r>
              <a:rPr lang="en-IN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Clk_Fast</a:t>
            </a: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] </a:t>
            </a:r>
          </a:p>
          <a:p>
            <a:pPr marL="0" indent="0">
              <a:buNone/>
            </a:pP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		\  -group [</a:t>
            </a:r>
            <a:r>
              <a:rPr lang="en-IN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get_clocks</a:t>
            </a: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 </a:t>
            </a:r>
            <a:r>
              <a:rPr lang="en-IN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Clk_Slow</a:t>
            </a: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]</a:t>
            </a:r>
            <a:endParaRPr lang="en-DE" dirty="0">
              <a:latin typeface="XB Niloofar" panose="02000503080000020003" pitchFamily="2" charset="-78"/>
              <a:cs typeface="XB Niloofar" panose="02000503080000020003" pitchFamily="2" charset="-78"/>
            </a:endParaRPr>
          </a:p>
          <a:p>
            <a:pPr>
              <a:buFont typeface="XB Niloofar" panose="02000503080000020003" pitchFamily="2" charset="-78"/>
              <a:buChar char="&gt;"/>
            </a:pPr>
            <a:r>
              <a:rPr lang="en-IN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set_false_path</a:t>
            </a: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 -from [</a:t>
            </a:r>
            <a:r>
              <a:rPr lang="en-IN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get_ports</a:t>
            </a: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 </a:t>
            </a:r>
            <a:r>
              <a:rPr lang="en-IN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Rst</a:t>
            </a:r>
            <a:r>
              <a:rPr lang="en-IN" dirty="0">
                <a:latin typeface="XB Niloofar" panose="02000503080000020003" pitchFamily="2" charset="-78"/>
                <a:cs typeface="XB Niloofar" panose="02000503080000020003" pitchFamily="2" charset="-78"/>
              </a:rPr>
              <a:t>]</a:t>
            </a:r>
            <a:endParaRPr lang="en-DE" dirty="0">
              <a:latin typeface="XB Niloofar" panose="02000503080000020003" pitchFamily="2" charset="-78"/>
              <a:cs typeface="XB Niloofar" panose="02000503080000020003" pitchFamily="2" charset="-78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D181573-CAD3-2EDC-38FE-137FAFED88E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40000" lnSpcReduction="20000"/>
          </a:bodyPr>
          <a:lstStyle/>
          <a:p>
            <a:pPr>
              <a:buFont typeface="XB Niloofar" panose="02000503080000020003" pitchFamily="2" charset="-78"/>
              <a:buChar char="&gt;"/>
            </a:pPr>
            <a:r>
              <a:rPr lang="en-IN" sz="2700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set_input_delay</a:t>
            </a: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 -clock </a:t>
            </a:r>
            <a:r>
              <a:rPr lang="en-IN" sz="2700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Clk_Fast</a:t>
            </a: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 -max 2.2 </a:t>
            </a:r>
          </a:p>
          <a:p>
            <a:pPr marL="0" indent="0">
              <a:buNone/>
            </a:pP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	\[</a:t>
            </a:r>
            <a:r>
              <a:rPr lang="en-IN" sz="2700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get_ports</a:t>
            </a: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 {Prog_Data[*]}]</a:t>
            </a:r>
            <a:endParaRPr lang="en-DE" sz="2700" dirty="0">
              <a:latin typeface="XB Niloofar" panose="02000503080000020003" pitchFamily="2" charset="-78"/>
              <a:cs typeface="XB Niloofar" panose="02000503080000020003" pitchFamily="2" charset="-78"/>
            </a:endParaRPr>
          </a:p>
          <a:p>
            <a:pPr>
              <a:buFont typeface="XB Niloofar" panose="02000503080000020003" pitchFamily="2" charset="-78"/>
              <a:buChar char="&gt;"/>
            </a:pPr>
            <a:r>
              <a:rPr lang="en-IN" sz="2700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set_input_delay</a:t>
            </a: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 -clock </a:t>
            </a:r>
            <a:r>
              <a:rPr lang="en-IN" sz="2700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Clk_Fast</a:t>
            </a: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 -min 1.0 </a:t>
            </a:r>
          </a:p>
          <a:p>
            <a:pPr marL="0" indent="0">
              <a:buNone/>
            </a:pP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	\[</a:t>
            </a:r>
            <a:r>
              <a:rPr lang="en-IN" sz="2700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get_ports</a:t>
            </a: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 {Prog_Data[*]}]</a:t>
            </a:r>
            <a:endParaRPr lang="en-DE" sz="2700" dirty="0">
              <a:latin typeface="XB Niloofar" panose="02000503080000020003" pitchFamily="2" charset="-78"/>
              <a:cs typeface="XB Niloofar" panose="02000503080000020003" pitchFamily="2" charset="-78"/>
            </a:endParaRPr>
          </a:p>
          <a:p>
            <a:pPr>
              <a:buFont typeface="XB Niloofar" panose="02000503080000020003" pitchFamily="2" charset="-78"/>
              <a:buChar char="&gt;"/>
            </a:pPr>
            <a:r>
              <a:rPr lang="en-IN" sz="2700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set_input_delay</a:t>
            </a: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 -clock </a:t>
            </a:r>
            <a:r>
              <a:rPr lang="en-IN" sz="2700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Clk_Slow</a:t>
            </a: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 -max 2.0 </a:t>
            </a:r>
          </a:p>
          <a:p>
            <a:pPr marL="0" indent="0">
              <a:buNone/>
            </a:pP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	\[</a:t>
            </a:r>
            <a:r>
              <a:rPr lang="en-IN" sz="2700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get_ports</a:t>
            </a: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 {</a:t>
            </a:r>
            <a:r>
              <a:rPr lang="en-IN" sz="2700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Data_Rd_Data</a:t>
            </a: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[*]}]</a:t>
            </a:r>
            <a:endParaRPr lang="en-DE" sz="2700" dirty="0">
              <a:latin typeface="XB Niloofar" panose="02000503080000020003" pitchFamily="2" charset="-78"/>
              <a:cs typeface="XB Niloofar" panose="02000503080000020003" pitchFamily="2" charset="-78"/>
            </a:endParaRPr>
          </a:p>
          <a:p>
            <a:pPr>
              <a:buFont typeface="XB Niloofar" panose="02000503080000020003" pitchFamily="2" charset="-78"/>
              <a:buChar char="&gt;"/>
            </a:pPr>
            <a:r>
              <a:rPr lang="en-IN" sz="2700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set_input_delay</a:t>
            </a: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 -clock </a:t>
            </a:r>
            <a:r>
              <a:rPr lang="en-IN" sz="2700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Clk_Slow</a:t>
            </a: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 -min 1.0 </a:t>
            </a:r>
          </a:p>
          <a:p>
            <a:pPr marL="0" indent="0">
              <a:buNone/>
            </a:pP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	\[</a:t>
            </a:r>
            <a:r>
              <a:rPr lang="en-IN" sz="2700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get_ports</a:t>
            </a: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 {</a:t>
            </a:r>
            <a:r>
              <a:rPr lang="en-IN" sz="2700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Data_Rd_Data</a:t>
            </a: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[*]}]</a:t>
            </a:r>
            <a:endParaRPr lang="en-DE" sz="2700" dirty="0">
              <a:latin typeface="XB Niloofar" panose="02000503080000020003" pitchFamily="2" charset="-78"/>
              <a:cs typeface="XB Niloofar" panose="02000503080000020003" pitchFamily="2" charset="-78"/>
            </a:endParaRPr>
          </a:p>
          <a:p>
            <a:pPr>
              <a:buFont typeface="XB Niloofar" panose="02000503080000020003" pitchFamily="2" charset="-78"/>
              <a:buChar char="&gt;"/>
            </a:pPr>
            <a:r>
              <a:rPr lang="en-IN" sz="2700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set_output_delay</a:t>
            </a: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 -clock </a:t>
            </a:r>
            <a:r>
              <a:rPr lang="en-IN" sz="2700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Clk_Fast</a:t>
            </a: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 -max 2.0 </a:t>
            </a:r>
          </a:p>
          <a:p>
            <a:pPr marL="0" indent="0">
              <a:buNone/>
            </a:pP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	\[</a:t>
            </a:r>
            <a:r>
              <a:rPr lang="en-IN" sz="2700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get_ports</a:t>
            </a: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 {Halted </a:t>
            </a:r>
            <a:r>
              <a:rPr lang="en-IN" sz="2700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Prog_Addr</a:t>
            </a: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[*]}]</a:t>
            </a:r>
            <a:endParaRPr lang="en-DE" sz="2700" dirty="0">
              <a:latin typeface="XB Niloofar" panose="02000503080000020003" pitchFamily="2" charset="-78"/>
              <a:cs typeface="XB Niloofar" panose="02000503080000020003" pitchFamily="2" charset="-78"/>
            </a:endParaRPr>
          </a:p>
          <a:p>
            <a:pPr>
              <a:buFont typeface="XB Niloofar" panose="02000503080000020003" pitchFamily="2" charset="-78"/>
              <a:buChar char="&gt;"/>
            </a:pPr>
            <a:r>
              <a:rPr lang="en-IN" sz="2700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set_output_delay</a:t>
            </a: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 -clock </a:t>
            </a:r>
            <a:r>
              <a:rPr lang="en-IN" sz="2700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Clk_Fast</a:t>
            </a: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 -min 0.5 [</a:t>
            </a:r>
            <a:r>
              <a:rPr lang="en-IN" sz="2700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get_ports</a:t>
            </a: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 {Halted </a:t>
            </a:r>
            <a:r>
              <a:rPr lang="en-IN" sz="2700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Prog_Addr</a:t>
            </a: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[*]}]</a:t>
            </a:r>
            <a:endParaRPr lang="en-DE" sz="2700" dirty="0">
              <a:latin typeface="XB Niloofar" panose="02000503080000020003" pitchFamily="2" charset="-78"/>
              <a:cs typeface="XB Niloofar" panose="02000503080000020003" pitchFamily="2" charset="-78"/>
            </a:endParaRPr>
          </a:p>
          <a:p>
            <a:pPr>
              <a:buFont typeface="XB Niloofar" panose="02000503080000020003" pitchFamily="2" charset="-78"/>
              <a:buChar char="&gt;"/>
            </a:pPr>
            <a:r>
              <a:rPr lang="en-IN" sz="2700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set_output_delay</a:t>
            </a: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 -clock </a:t>
            </a:r>
            <a:r>
              <a:rPr lang="en-IN" sz="2700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Clk_Slow</a:t>
            </a: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 -max 4.0 \</a:t>
            </a:r>
          </a:p>
          <a:p>
            <a:pPr marL="0" indent="0">
              <a:buNone/>
            </a:pP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                [</a:t>
            </a:r>
            <a:r>
              <a:rPr lang="en-IN" sz="2700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get_ports</a:t>
            </a: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 {</a:t>
            </a:r>
            <a:r>
              <a:rPr lang="en-IN" sz="2700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Data_Wr_En</a:t>
            </a: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 </a:t>
            </a:r>
            <a:r>
              <a:rPr lang="en-IN" sz="2700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Data_Rd_En</a:t>
            </a: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 </a:t>
            </a:r>
            <a:r>
              <a:rPr lang="en-IN" sz="2700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Data_Addr</a:t>
            </a: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[*] </a:t>
            </a:r>
            <a:r>
              <a:rPr lang="en-IN" sz="2700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Data_Wr_Data</a:t>
            </a: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[*]}]</a:t>
            </a:r>
            <a:endParaRPr lang="en-DE" sz="2700" dirty="0">
              <a:latin typeface="XB Niloofar" panose="02000503080000020003" pitchFamily="2" charset="-78"/>
              <a:cs typeface="XB Niloofar" panose="02000503080000020003" pitchFamily="2" charset="-78"/>
            </a:endParaRPr>
          </a:p>
          <a:p>
            <a:pPr>
              <a:buFont typeface="XB Niloofar" panose="02000503080000020003" pitchFamily="2" charset="-78"/>
              <a:buChar char="&gt;"/>
            </a:pPr>
            <a:r>
              <a:rPr lang="en-IN" sz="2700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set_output_delay</a:t>
            </a: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 -clock </a:t>
            </a:r>
            <a:r>
              <a:rPr lang="en-IN" sz="2700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Clk_Slow</a:t>
            </a: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 -min 0.5 \</a:t>
            </a:r>
            <a:endParaRPr lang="en-DE" sz="2700" dirty="0">
              <a:latin typeface="XB Niloofar" panose="02000503080000020003" pitchFamily="2" charset="-78"/>
              <a:cs typeface="XB Niloofar" panose="02000503080000020003" pitchFamily="2" charset="-78"/>
            </a:endParaRPr>
          </a:p>
          <a:p>
            <a:pPr marL="0" indent="0">
              <a:buNone/>
            </a:pP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                [</a:t>
            </a:r>
            <a:r>
              <a:rPr lang="en-IN" sz="2700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get_ports</a:t>
            </a: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 {</a:t>
            </a:r>
            <a:r>
              <a:rPr lang="en-IN" sz="2700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Data_Wr_En</a:t>
            </a: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 </a:t>
            </a:r>
            <a:r>
              <a:rPr lang="en-IN" sz="2700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Data_Rd_En</a:t>
            </a: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 </a:t>
            </a:r>
            <a:r>
              <a:rPr lang="en-IN" sz="2700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Data_Addr</a:t>
            </a: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[*] </a:t>
            </a:r>
            <a:r>
              <a:rPr lang="en-IN" sz="2700" dirty="0" err="1">
                <a:latin typeface="XB Niloofar" panose="02000503080000020003" pitchFamily="2" charset="-78"/>
                <a:cs typeface="XB Niloofar" panose="02000503080000020003" pitchFamily="2" charset="-78"/>
              </a:rPr>
              <a:t>Data_Wr_Data</a:t>
            </a:r>
            <a:r>
              <a:rPr lang="en-IN" sz="2700" dirty="0">
                <a:latin typeface="XB Niloofar" panose="02000503080000020003" pitchFamily="2" charset="-78"/>
                <a:cs typeface="XB Niloofar" panose="02000503080000020003" pitchFamily="2" charset="-78"/>
              </a:rPr>
              <a:t>[*]}]</a:t>
            </a:r>
            <a:endParaRPr lang="en-DE" sz="2700" dirty="0">
              <a:latin typeface="XB Niloofar" panose="02000503080000020003" pitchFamily="2" charset="-78"/>
              <a:cs typeface="XB Niloofar" panose="02000503080000020003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0093406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BBC69-BBBA-15D0-6C1F-D7B21FDF5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5968C-8AE8-8084-577F-D5F8B6BBF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XB Niloofar" panose="02000503080000020003" pitchFamily="2" charset="-78"/>
                <a:cs typeface="XB Niloofar" panose="02000503080000020003" pitchFamily="2" charset="-78"/>
              </a:rPr>
              <a:t>Synthesis results</a:t>
            </a:r>
            <a:endParaRPr lang="en-DE" b="1" dirty="0">
              <a:latin typeface="XB Niloofar" panose="02000503080000020003" pitchFamily="2" charset="-78"/>
              <a:cs typeface="XB Niloofar" panose="02000503080000020003" pitchFamily="2" charset="-78"/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9939E8C-2B08-97FC-A871-695AD20E4D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24928"/>
          <a:stretch>
            <a:fillRect/>
          </a:stretch>
        </p:blipFill>
        <p:spPr>
          <a:xfrm>
            <a:off x="1901582" y="1795692"/>
            <a:ext cx="8388836" cy="3266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7405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3C849-3DF4-CEAF-959D-4C838C2A3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CEEDF-751E-725B-0139-FDFE9B229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XB Niloofar" panose="02000503080000020003" pitchFamily="2" charset="-78"/>
                <a:cs typeface="XB Niloofar" panose="02000503080000020003" pitchFamily="2" charset="-78"/>
              </a:rPr>
              <a:t>STA results</a:t>
            </a:r>
            <a:endParaRPr lang="en-DE" b="1" dirty="0">
              <a:latin typeface="XB Niloofar" panose="02000503080000020003" pitchFamily="2" charset="-78"/>
              <a:cs typeface="XB Niloofar" panose="02000503080000020003" pitchFamily="2" charset="-78"/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99D67E3-CD7B-C7E5-32FE-AB760C47CA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1349" y="1995948"/>
            <a:ext cx="8297385" cy="3821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5400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91137-5028-8E2F-A9EA-3B0C95719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2CE59-DBA4-2AFD-768C-A37DF0960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XB Niloofar" panose="02000503080000020003" pitchFamily="2" charset="-78"/>
                <a:cs typeface="XB Niloofar" panose="02000503080000020003" pitchFamily="2" charset="-78"/>
              </a:rPr>
              <a:t>STA results</a:t>
            </a:r>
            <a:endParaRPr lang="en-DE" b="1" dirty="0">
              <a:latin typeface="XB Niloofar" panose="02000503080000020003" pitchFamily="2" charset="-78"/>
              <a:cs typeface="XB Niloofar" panose="02000503080000020003" pitchFamily="2" charset="-78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976B2A3-4556-8697-C608-D3BF521921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97394" y="2078751"/>
            <a:ext cx="6341806" cy="3388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9808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716</TotalTime>
  <Words>762</Words>
  <Application>Microsoft Office PowerPoint</Application>
  <PresentationFormat>Widescreen</PresentationFormat>
  <Paragraphs>98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Calibri</vt:lpstr>
      <vt:lpstr>Calibri Light</vt:lpstr>
      <vt:lpstr>Times New Roman</vt:lpstr>
      <vt:lpstr>XB Niloofar</vt:lpstr>
      <vt:lpstr>Office Theme</vt:lpstr>
      <vt:lpstr>CPU Lite</vt:lpstr>
      <vt:lpstr>Overview</vt:lpstr>
      <vt:lpstr>Key Specification</vt:lpstr>
      <vt:lpstr>Micro Architecture</vt:lpstr>
      <vt:lpstr>PowerPoint Presentation</vt:lpstr>
      <vt:lpstr>PowerPoint Presentation</vt:lpstr>
      <vt:lpstr>L1 Cache Parameters</vt:lpstr>
      <vt:lpstr>Cache Behavior</vt:lpstr>
      <vt:lpstr>PowerPoint Presentation</vt:lpstr>
      <vt:lpstr>Forwarding Unit</vt:lpstr>
      <vt:lpstr>Lint results</vt:lpstr>
      <vt:lpstr>CDC results</vt:lpstr>
      <vt:lpstr>SDC Constraints</vt:lpstr>
      <vt:lpstr>Synthesis results</vt:lpstr>
      <vt:lpstr>STA results</vt:lpstr>
      <vt:lpstr>STA results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Abiramasundar S</dc:creator>
  <cp:lastModifiedBy>Abiramasundar S</cp:lastModifiedBy>
  <cp:revision>13</cp:revision>
  <dcterms:created xsi:type="dcterms:W3CDTF">2026-10-09T11:50:40Z</dcterms:created>
  <dcterms:modified xsi:type="dcterms:W3CDTF">2026-10-16T06:08:03Z</dcterms:modified>
</cp:coreProperties>
</file>